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6" r:id="rId24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Requirements (Functional &amp; Non-Functional)</a:t>
            </a:r>
            <a:endParaRPr lang="en-US" sz="1400" dirty="0"/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Detailed 3-Tier System Architecture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 Case &amp; Database ER Modeling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Module Description &amp; Feature Matrix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Technology Stack &amp; Supporting Libraries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UI Wireframes &amp; Component Design System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Frontend (React 18 + Vite) &amp; Backend (Express) Build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Database (MongoDB + Mongoose) &amp; REST APIs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Progress (95%), Screenshots &amp; Live Demo Flow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Technical Challenges, Solutions &amp; Next Steps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0" y="1700784"/>
            <a:ext cx="5120640" cy="3721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028090"/>
                </a:solidFill>
                <a:latin typeface="Cambria"/>
              </a:rPr>
              <a:t>SubSense Project Overview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SaaS Subscription &amp; Expense Analytics Dashboard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• Problem: The average professional/team manages 8+ subscriptions, leading to billing surprises, untracked renewals, and redundant tool spending.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• Solution: SubSense centralizes all recurring subscriptions into an executive glassmorphic dashboard with live spend analytics and renewal alerts.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• Architecture: Built with the MERN stack (MongoDB, Express.js, React 18, Node.js) with JWT authentication and Recharts data visualization.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• Review Scope: Comprehensive review of system design, database architecture, end-to-end API integration, UI implementation, and test suites.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User registration, login &amp; secure JWT token authentication</a:t>
            </a:r>
            <a:endParaRPr lang="en-US" sz="1350" dirty="0"/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Centralized subscription tracking &amp; lifecycle states (Active, Paused, Cancelled)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Multi-cycle billing calculation (Monthly, Weekly, Quarterly, Yearly)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Real-time spend analytics &amp; interactive Recharts spend trend visualization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Category-based budget tracking with dynamic spending cap alerts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Proactive renewal reminders &amp; automated payment due-date countdown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Smart insights: duplicate subscription alerts &amp; unused license detection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Performance: sub-second API response (&lt; 200ms) with MongoDB compound indexing</a:t>
            </a:r>
            <a:endParaRPr lang="en-US" sz="1350" dirty="0"/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Scalability: stateless REST API architecture handling high concurrent traffic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Security: BCrypt password hashing (10 salt rounds), JWT Bearer tokens, CORS controls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Usability: responsive glassmorphic dark UI styled with Tailwind CSS utility tokens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Reliability: resilient MongoDB Atlas connection pooling &amp; schema validation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Maintainability: modular MVC backend architecture &amp; reusable React components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React.js 18 + Vite (SPA)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React Context API (Auth)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Tailwind CSS + Glassmorphism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Recharts (Area &amp; Donut)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Axios HTTP (Bearer JWT)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Node.js + Express.js REST API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JWT Authentication Middleware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Payload Validation Layer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MVC Controllers &amp; Services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Jest &amp; Supertest Test Suites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MongoDB Atlas Cloud DB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Mongoose ODM Models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Users &amp; Subscriptions Collections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Compound &amp; Unique Indexes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Schema Enums &amp; Sanitization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0" i="0">
                <a:solidFill>
                  <a:srgbClr val="1B2A2E"/>
                </a:solidFill>
                <a:latin typeface="Calibri"/>
              </a:rPr>
              <a:t>Stateless HTTP/HTTPS REST requests flow from the React 18 client through Express endpoints, verified by JWT auth and validation middleware, before querying MongoDB Atlas via Mongoose ODM.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 i="0">
                <a:solidFill>
                  <a:srgbClr val="028090"/>
                </a:solidFill>
                <a:latin typeface="Calibri"/>
              </a:rPr>
              <a:t>Architecture Pipeline: Client Tier (React 18 + Vite) ⇄ Application Tier (Node/Express REST API + JWT) ⇄ Data Tier (MongoDB Atlas Cloud Cluster via Mongoose ODM).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System Actors &amp; Use Cases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50" b="0" i="0">
                <a:solidFill>
                  <a:srgbClr val="1B2A2E"/>
                </a:solidFill>
                <a:latin typeface="Calibri"/>
              </a:rPr>
              <a:t>Primary Actor: Registered User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Secure Register &amp; Login (JWT Auth)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Add, Edit, Delete Subscriptions (CRUD)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Filter &amp; Search (Category, Status, Cycle)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View Live Spend Analytics &amp; Trends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Configure Category Budget Guardrails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Track Upcoming Renewal Due Dates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Secondary Actor: Notification Engine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Calculate Renewal Due Countdowns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Trigger Proactive Renewal Alerts (3d/1d)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Detect Duplicate Subscriptions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Relationships: User initiates interactive CRUD; Engine monitors cron-scheduled events.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Database Schema Design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00" b="0" i="0">
                <a:solidFill>
                  <a:srgbClr val="1B2A2E"/>
                </a:solidFill>
                <a:latin typeface="Calibri"/>
              </a:rPr>
              <a:t>Users Collection ('users'):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_id: ObjectId [Primary Key]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name, email [Unique, Lowercase], password [BCrypt]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createdAt, updatedAt [Timestamps]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Subscriptions Collection ('subscriptions'):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_id: ObjectId [Primary Key]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userId: ObjectId [Foreign Key -&gt; users._id, Indexed]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serviceName, price, currency (USD)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category: Enum (Entertainment, Dev, Cloud, Design...)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billingCycle: Enum (Weekly, Monthly, Quarterly, Yearly)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renewalDate: Date [Indexed], status: Enum (Active/Paused)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Cardinality: 1:N (1 User has many Subscriptions)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Optimization: Compound index on { userId: 1, createdAt: -1 }.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Key Functions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User Authentication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Secure user onboarding, password hashing, and token issuance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Signup, Login, JWT verification, Protected routes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Subscription Core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Full lifecycle management of recurring software 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Create, Read, Update, Delete, Status Toggle, Billing cycles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Spend Analytics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Visual breakdown of recurring expenses and financial trends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Recharts AreaChart, Donut category split, Run-rate projection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Budget Guardrails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Category spending limits and threshold monitoring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Set Category Budgets, Progress tracking, Overspend alerts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Renewal &amp; Alerts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Timeline tracking of upcoming renewal dates and smart heuristics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Renewal countdown, Days remaining, Duplicate detection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NoSQL document database, Mongoose ODM schemas, compound indexes, cloud Atlas deployment.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Minimalist backend framework, RESTful API architecture, JWT auth middleware, custom validators.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React 18 SPA with Vite bundler, React Router v6, Context API, Recharts, Tailwind CSS.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Asynchronous event-driven V8 JavaScript runtime, non-blocking I/O, npm package ecosystem.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sz="1100" b="0" i="0">
                <a:solidFill>
                  <a:srgbClr val="1B2A2E"/>
                </a:solidFill>
                <a:latin typeface="Calibri"/>
              </a:rPr>
              <a:t>Mongoose ODM (Object Data Modeling &amp; Schema validation)</a:t>
            </a:r>
            <a:endParaRPr lang="en-US" sz="1300" dirty="0"/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B2A2E"/>
                </a:solidFill>
                <a:latin typeface="Calibri"/>
              </a:rPr>
              <a:t>Tailwind CSS (Utility-first modern dark glassmorphism UI)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B2A2E"/>
                </a:solidFill>
                <a:latin typeface="Calibri"/>
              </a:rPr>
              <a:t>Recharts (Interactive SVG spend charts &amp; dynamic tooltips)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B2A2E"/>
                </a:solidFill>
                <a:latin typeface="Calibri"/>
              </a:rPr>
              <a:t>JWT &amp; bcryptjs (Stateless tokens &amp; cryptographic hashing)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B2A2E"/>
                </a:solidFill>
                <a:latin typeface="Calibri"/>
              </a:rPr>
              <a:t>Axios (Promise-based HTTP client with Bearer interceptors)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1B2A2E"/>
                </a:solidFill>
                <a:latin typeface="Calibri"/>
              </a:rPr>
              <a:t>Jest &amp; Supertest (Automated unit and integration testing)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Design Philosophy &amp; Hierarchy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00" b="0" i="0">
                <a:solidFill>
                  <a:srgbClr val="1B2A2E"/>
                </a:solidFill>
                <a:latin typeface="Calibri"/>
              </a:rPr>
              <a:t>Glassmorphic Aesthetic: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Deep slate backdrop (#0B0F19 / #0F172A)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High-contrast cyan &amp; emerald accents (#38BDF8, #10B981)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Translucent glass cards with subtle borders &amp; blur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Component Layout Hierarchy: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DashboardLayout: Persistent responsive Sidebar &amp; Navbar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Metric Grid: 4 Top KPI StatCards with percentage shifts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Visualization Grid: Spend Trajectory AreaChart &amp; Donut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Management Table: Filter pills, Search bar, CRUD modals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Responsive Design: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Tailored breakpoints for Desktop (1280px+), Tablet, Mobile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Built with modern Tailwind CSS utility tokens.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wirefram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Built with React 18 &amp; Vite providing instant HMR and optimized production bundling (&lt; 1s build)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Component-driven modular architecture: DashboardLayout, Sidebar, Navbar, StatCards, Modals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Global authentication state managed via React Context API (AuthContext) with persistent localStorage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Client-side routing implemented with React Router DOM v6 with protected route authorization guards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Interactive financial data visualizations engineered with Recharts (AreaChart, PieChart &amp; custom tooltips)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Modern glassmorphic dark design system styled with Tailwind CSS utility classes &amp; custom CSS animations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Centralized Axios HTTP client with request interceptors for automatic Bearer JWT header injection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Completed Pages &amp; Views: HomePage, LoginPage, RegisterPage, DashboardPage, SubscriptionsPage, AnalyticsPage, BudgetPage, RenewalsPage, InsightsPage, SettingsPage.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Node.js &amp; Express.js RESTful API structured cleanly using the Model-View-Controller (MVC) pattern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Stateless authentication pipeline with JWT tokens and BCrypt password encryption (10 salt rounds)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Custom middleware architecture: protect for JWT route verification and validateSubscription for payload checks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Strict input validation enforcing category enums, billing cycle enums, positive prices, and ISO dates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Centralized error handling returning structured JSON status codes and developer-friendly messages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Multi-environment configuration powered by dotenv for development and production portability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Automated integration test suites built with Jest and Supertest (auth-flow.test.js, subscriptions.test.js)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Security &amp; Middleware Stack: auth.protect (JWT token extraction &amp; verification), validateSubscription.js (schema sanitization), and automated Jest API tests.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MongoDB Atlas cloud cluster configured with Mongoose ODM connection pooling and auto-reconnect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Normalized document schemas: User and Subscription models with strict type definitions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Relational modeling using Mongoose ObjectId referencing (userId: Schema.Types.ObjectId -&gt; User)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Compound indexing on { userId: 1, createdAt: -1 } ensuring sub-millisecond user query performance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Unique index on users.email preventing duplicate account creation at the database engine level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Built-in Mongoose schema validators for categories, billing cycles, and subscription statuses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Clean separation of database connection logic in config/db.js with structured connection logging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Active Collections: 'users' (identity, hashed credentials, timestamps) and 'subscriptions' (service metadata, price, billing cycle, renewal date, status, notes).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/api/auth/register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Register a new user account with hashed password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Authenticate user credentials &amp; issue 7-day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/api/auth/me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Retrieve current authenticated user profile via JWT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Fetch all subscriptions belonging to authenticated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Create a new subscription record with schema validation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PUT / DEL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/api/subscriptions/:id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Update subscription details / delete subscription by 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User Authentication &amp; JWT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Frontend UI (Core Dashboard &amp; Views)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Backend REST APIs &amp; Controllers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Database Integration &amp; Mongoose Schemas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Spend Analytics &amp; Recharts Data Visualization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Renewal Reminders &amp; Budget Thresholds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80%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7" name="Picture 16" descr="screenshot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846320" cy="1783080"/>
          </a:xfrm>
          <a:prstGeom prst="rect">
            <a:avLst/>
          </a:prstGeom>
        </p:spPr>
      </p:pic>
      <p:pic>
        <p:nvPicPr>
          <p:cNvPr id="18" name="Picture 17" descr="screensho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4846320" cy="1783080"/>
          </a:xfrm>
          <a:prstGeom prst="rect">
            <a:avLst/>
          </a:prstGeom>
        </p:spPr>
      </p:pic>
      <p:pic>
        <p:nvPicPr>
          <p:cNvPr id="19" name="Picture 18" descr="screenshot_subscrip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94760"/>
            <a:ext cx="4846320" cy="1783080"/>
          </a:xfrm>
          <a:prstGeom prst="rect">
            <a:avLst/>
          </a:prstGeom>
        </p:spPr>
      </p:pic>
      <p:pic>
        <p:nvPicPr>
          <p:cNvPr id="20" name="Picture 19" descr="screenshot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94760"/>
            <a:ext cx="484632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15179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1. Authentication &amp; JWT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179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2. Executive Overview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753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3. Subscriptions Lifecycle &amp;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753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4. Spend Analytics &amp; Smart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Solution Adopted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Heterogeneous Billing Cycle Normalization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Engineered conversion algorithms normalizing Weekly, Monthly, Quarterly, and Yearly rates to monthly equivalents for unified analytics.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Stateless Session &amp; Route Protection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Implemented JWT Bearer token authentication with Express middleware and React Context API to retain auth state across page reloads.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Real-time Recharts Synchronization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Centralized API queries and state updates so subscription mutations (Add/Edit/Delete) instantly re-render AreaChart and PieChart without refresh.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Strict Multi-field Input Validation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Created dual-layer validation via Express middleware and Mongoose schema enums to reject invalid dates, negative prices, and bad enums.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sz="1200" b="0" i="0">
                <a:solidFill>
                  <a:srgbClr val="1B2A2E"/>
                </a:solidFill>
                <a:latin typeface="Calibri"/>
              </a:rPr>
              <a:t>Automated Email &amp; Webhook Renewal Alerts: Integration with Nodemailer / SendGrid and node-cron scheduler for proactive 3-day and 1-day reminders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Multi-Currency Conversion &amp; Live FX Rates: Integration with Open Exchange Rates API for dynamic multi-currency display and global conversion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Bank Statement &amp; CSV Import: Automated transaction parsing engine to detect recurring SaaS subscriptions automatically from statements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Predictive ML Spend Anomaly Detection: Heuristic statistical model to predict unexpected price increases and budget overruns before they occur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Production Cloud Deployment: Deployment of frontend SPA to Vercel, containerized Node.js backend on Render, and MongoDB Atlas cluster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B2A2E"/>
                </a:solidFill>
                <a:latin typeface="Calibri"/>
              </a:rPr>
              <a:t>Comprehensive End-to-End Testing &amp; Accessibility: Lighthouse 95+ performance optimization and Jest / Cypress automated test coverage expansion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 i="0">
                <a:solidFill>
                  <a:srgbClr val="00A896"/>
                </a:solidFill>
                <a:latin typeface="Calibri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MongoDB &amp; Mongoose ODM Documentation — https://www.mongodb.com/docs, https://mongoosejs.com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Express.js &amp; Node.js Application Framework Guides — https://expressjs.com, https://nodejs.org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React 18 &amp; Vite Official Documentation — https://react.dev, https://vite.dev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RFC 7519: JSON Web Token (JWT) Standard &amp; Recharts Framework — https://recharts.org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5912" cy="73152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0A896"/>
                </a:solidFill>
                <a:latin typeface="Calibri"/>
              </a:rPr>
              <a:t>MAJOR PROJECT REVIEW  •  COMBINED REVIEW (REVIEW 1 &amp;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 i="0">
                <a:solidFill>
                  <a:srgbClr val="1B2A2E"/>
                </a:solidFill>
                <a:latin typeface="Cambria"/>
              </a:rPr>
              <a:t>SubSense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028090"/>
                </a:solidFill>
                <a:latin typeface="Cambria"/>
              </a:rPr>
              <a:t>SaaS Subscription &amp; Expense Analytics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62179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028090"/>
                </a:solidFill>
                <a:latin typeface="Cambria"/>
              </a:rPr>
              <a:t>Project Summary &amp; Highlights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• Objective: Eliminate subscription sprawl and optimize cloud/SaaS recurring expenditure through unified tracking and intelligent analytics.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• Full-Stack Architecture: React 18 frontend with Recharts visualization, Node.js + Express backend, MongoDB Atlas persistence, and JWT session security.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• Core Capabilities: Automated renewal countdowns, category budget guardrails, interactive spend trajectories, and smart license optimization.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• Current Milestone: Review 1 &amp; 2 complete with core APIs, database models, frontend views, and automated test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017520"/>
            <a:ext cx="4325112" cy="2926080"/>
          </a:xfrm>
          <a:prstGeom prst="roundRect">
            <a:avLst/>
          </a:prstGeom>
          <a:solidFill>
            <a:srgbClr val="028090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Presentation Details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Domain: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Full-Stack Web Engineering (MERN)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Core Stack: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MongoDB • Express • React 18 • Node.js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Design System: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Tailwind CSS • Glassmorphism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Security: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JWT Bearer Tokens • BCrypt Salting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Target Environment: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Vercel / Render / MongoDB Atlas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99F6E4"/>
                </a:solidFill>
                <a:latin typeface="Calibri"/>
              </a:rPr>
              <a:t>Review Milestone: 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Review 1 &amp; 2 Combined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7A8F8C"/>
                </a:solidFill>
                <a:latin typeface="Calibri"/>
              </a:rPr>
              <a:t>SubSense  |  Department of Computer Science &amp; Engineering  |  Combined Review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