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7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2" r:id="rId17"/>
    <p:sldId id="273" r:id="rId18"/>
    <p:sldId id="275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9" d="100"/>
          <a:sy n="89" d="100"/>
        </p:scale>
        <p:origin x="437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476439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731520"/>
            <a:ext cx="10725912" cy="73152"/>
          </a:xfrm>
          <a:prstGeom prst="rect">
            <a:avLst/>
          </a:prstGeom>
          <a:solidFill>
            <a:srgbClr val="00A896"/>
          </a:solidFill>
          <a:ln>
            <a:solidFill>
              <a:srgbClr val="00A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72591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 i="0">
                <a:solidFill>
                  <a:srgbClr val="00A896"/>
                </a:solidFill>
                <a:latin typeface="Calibri"/>
              </a:rPr>
              <a:t>MAJOR PROJECT REVIEW  •  COMBINED REVIEW (REVIEW 1 &amp; 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7259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600" b="1" i="0">
                <a:solidFill>
                  <a:srgbClr val="1B2A2E"/>
                </a:solidFill>
                <a:latin typeface="Cambria"/>
              </a:rPr>
              <a:t>SubSense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331720"/>
            <a:ext cx="1072591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 i="0">
                <a:solidFill>
                  <a:srgbClr val="028090"/>
                </a:solidFill>
                <a:latin typeface="Cambria"/>
              </a:rPr>
              <a:t>SaaS Subscription &amp; Expense Analytics Dashboard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017520"/>
            <a:ext cx="6217920" cy="29260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800"/>
              </a:spcAft>
            </a:pPr>
            <a:r>
              <a:rPr sz="1400" b="1" i="0" dirty="0">
                <a:solidFill>
                  <a:srgbClr val="02809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Summary &amp; Highlights</a:t>
            </a:r>
          </a:p>
          <a:p>
            <a:pPr>
              <a:spcAft>
                <a:spcPts val="500"/>
              </a:spcAft>
            </a:pPr>
            <a:r>
              <a:rPr sz="1400" b="0" i="0" dirty="0">
                <a:solidFill>
                  <a:srgbClr val="1B2A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Objective: Eliminate subscription sprawl and optimize cloud/SaaS recurring expenditure through unified tracking and intelligent analytics.</a:t>
            </a:r>
          </a:p>
          <a:p>
            <a:pPr>
              <a:spcAft>
                <a:spcPts val="500"/>
              </a:spcAft>
            </a:pPr>
            <a:r>
              <a:rPr sz="1400" b="0" i="0" dirty="0">
                <a:solidFill>
                  <a:srgbClr val="1B2A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Full-Stack Architecture: React 18 frontend with Recharts visualization, Node.js + Express backend, MongoDB Atlas persistence, and JWT session security.</a:t>
            </a:r>
          </a:p>
          <a:p>
            <a:pPr>
              <a:spcAft>
                <a:spcPts val="500"/>
              </a:spcAft>
            </a:pPr>
            <a:r>
              <a:rPr sz="1400" b="0" i="0" dirty="0">
                <a:solidFill>
                  <a:srgbClr val="1B2A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Core Capabilities: Automated renewal countdowns, category budget guardrails, interactive spend trajectories, and smart license optimization.</a:t>
            </a:r>
          </a:p>
          <a:p>
            <a:pPr>
              <a:spcAft>
                <a:spcPts val="500"/>
              </a:spcAft>
            </a:pPr>
            <a:r>
              <a:rPr sz="1400" b="0" i="0" dirty="0">
                <a:solidFill>
                  <a:srgbClr val="1B2A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Current Milestone: Review 1 &amp; 2 complete with core APIs, database models, frontend views, and automated test coverage.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3017520"/>
            <a:ext cx="4325112" cy="2926080"/>
          </a:xfrm>
          <a:prstGeom prst="roundRect">
            <a:avLst/>
          </a:prstGeom>
          <a:solidFill>
            <a:srgbClr val="028090"/>
          </a:solidFill>
          <a:ln w="19050">
            <a:solidFill>
              <a:srgbClr val="00A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1000"/>
              </a:spcAft>
            </a:pPr>
            <a:r>
              <a:rPr sz="1400" b="1" i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Presentation Details</a:t>
            </a:r>
          </a:p>
          <a:p>
            <a:pPr>
              <a:spcAft>
                <a:spcPts val="500"/>
              </a:spcAft>
            </a:pPr>
            <a:r>
              <a:rPr sz="1400" b="1" i="0" dirty="0">
                <a:solidFill>
                  <a:srgbClr val="99F6E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Domain: </a:t>
            </a:r>
            <a:r>
              <a:rPr sz="1400" b="0" i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Full-Stack Web Engineering (MERN)</a:t>
            </a:r>
          </a:p>
          <a:p>
            <a:pPr>
              <a:spcAft>
                <a:spcPts val="500"/>
              </a:spcAft>
            </a:pPr>
            <a:r>
              <a:rPr sz="1400" b="1" i="0" dirty="0">
                <a:solidFill>
                  <a:srgbClr val="99F6E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Core Stack: </a:t>
            </a:r>
            <a:r>
              <a:rPr sz="1400" b="0" i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MongoDB • Express • React 18 • Node.js</a:t>
            </a:r>
          </a:p>
          <a:p>
            <a:pPr>
              <a:spcAft>
                <a:spcPts val="500"/>
              </a:spcAft>
            </a:pPr>
            <a:r>
              <a:rPr sz="1400" b="1" i="0" dirty="0">
                <a:solidFill>
                  <a:srgbClr val="99F6E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 System: </a:t>
            </a:r>
            <a:r>
              <a:rPr sz="1400" b="0" i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Tailwind CSS • </a:t>
            </a:r>
            <a:r>
              <a:rPr sz="1400" b="0" i="0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Glassmorphism</a:t>
            </a:r>
            <a:endParaRPr sz="1400" b="0" i="0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500"/>
              </a:spcAft>
            </a:pPr>
            <a:r>
              <a:rPr sz="1400" b="1" i="0" dirty="0">
                <a:solidFill>
                  <a:srgbClr val="99F6E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Security: </a:t>
            </a:r>
            <a:r>
              <a:rPr sz="1400" b="0" i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JWT Bearer Tokens • </a:t>
            </a:r>
            <a:r>
              <a:rPr sz="1400" b="0" i="0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BCrypt</a:t>
            </a:r>
            <a:r>
              <a:rPr sz="1400" b="0" i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Salting</a:t>
            </a:r>
          </a:p>
          <a:p>
            <a:pPr>
              <a:spcAft>
                <a:spcPts val="500"/>
              </a:spcAft>
            </a:pPr>
            <a:r>
              <a:rPr sz="1400" b="1" i="0" dirty="0">
                <a:solidFill>
                  <a:srgbClr val="99F6E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Target Environment: </a:t>
            </a:r>
            <a:r>
              <a:rPr sz="1400" b="0" i="0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Vercel</a:t>
            </a:r>
            <a:r>
              <a:rPr sz="1400" b="0" i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/ Render / MongoDB Atlas</a:t>
            </a:r>
          </a:p>
          <a:p>
            <a:pPr>
              <a:spcAft>
                <a:spcPts val="500"/>
              </a:spcAft>
            </a:pPr>
            <a:r>
              <a:rPr sz="1400" b="1" i="0" dirty="0">
                <a:solidFill>
                  <a:srgbClr val="99F6E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Review Milestone: </a:t>
            </a:r>
            <a:r>
              <a:rPr sz="1400" b="0" i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Review 1 &amp; 2 Combined Presentation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126480"/>
            <a:ext cx="1072591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0" i="0">
                <a:solidFill>
                  <a:srgbClr val="7A8F8C"/>
                </a:solidFill>
                <a:latin typeface="Calibri"/>
              </a:rPr>
              <a:t>SubSense  |  Department of Computer Science &amp; Engineering  |  Combined Review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972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1097280" y="713232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Scope of This Review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97280" y="1371600"/>
            <a:ext cx="10607040" cy="0"/>
          </a:xfrm>
          <a:prstGeom prst="line">
            <a:avLst/>
          </a:prstGeom>
          <a:noFill/>
          <a:ln w="12700">
            <a:solidFill>
              <a:srgbClr val="D7E7E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98144" y="1700059"/>
            <a:ext cx="5029200" cy="3713907"/>
          </a:xfrm>
          <a:prstGeom prst="roundRect">
            <a:avLst>
              <a:gd name="adj" fmla="val 1778"/>
            </a:avLst>
          </a:prstGeom>
          <a:solidFill>
            <a:srgbClr val="028090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371600" y="2130643"/>
            <a:ext cx="4572000" cy="28149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sz="1400" b="0" i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Requirements (Functional &amp; Non-Functional)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300"/>
              </a:spcAft>
            </a:pPr>
            <a:r>
              <a:rPr sz="1400" b="0" i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Detailed 3-Tier System Architecture</a:t>
            </a:r>
          </a:p>
          <a:p>
            <a:pPr>
              <a:spcAft>
                <a:spcPts val="300"/>
              </a:spcAft>
            </a:pPr>
            <a:r>
              <a:rPr sz="1400" b="0" i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 Case &amp; Database ER Modeling</a:t>
            </a:r>
          </a:p>
          <a:p>
            <a:pPr>
              <a:spcAft>
                <a:spcPts val="300"/>
              </a:spcAft>
            </a:pPr>
            <a:r>
              <a:rPr sz="1400" b="0" i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Description &amp; Feature Matrix</a:t>
            </a:r>
          </a:p>
          <a:p>
            <a:pPr>
              <a:spcAft>
                <a:spcPts val="300"/>
              </a:spcAft>
            </a:pPr>
            <a:r>
              <a:rPr sz="1400" b="0" i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Technology Stack &amp; Supporting Libraries</a:t>
            </a:r>
          </a:p>
          <a:p>
            <a:pPr>
              <a:spcAft>
                <a:spcPts val="300"/>
              </a:spcAft>
            </a:pPr>
            <a:r>
              <a:rPr sz="1400" b="0" i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UI Wireframes &amp; Component Design System</a:t>
            </a:r>
          </a:p>
          <a:p>
            <a:pPr>
              <a:spcAft>
                <a:spcPts val="300"/>
              </a:spcAft>
            </a:pPr>
            <a:r>
              <a:rPr sz="1400" b="0" i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Frontend (React 18 + Vite) &amp; Backend (Express) Build</a:t>
            </a:r>
          </a:p>
          <a:p>
            <a:pPr>
              <a:spcAft>
                <a:spcPts val="300"/>
              </a:spcAft>
            </a:pPr>
            <a:r>
              <a:rPr sz="1400" b="0" i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Database (MongoDB + Mongoose) &amp; REST APIs</a:t>
            </a:r>
          </a:p>
          <a:p>
            <a:pPr>
              <a:spcAft>
                <a:spcPts val="300"/>
              </a:spcAft>
            </a:pPr>
            <a:r>
              <a:rPr sz="1400" b="0" i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Progress (95%), Screenshots &amp; Live Demo Flow</a:t>
            </a:r>
          </a:p>
          <a:p>
            <a:pPr>
              <a:spcAft>
                <a:spcPts val="300"/>
              </a:spcAft>
            </a:pPr>
            <a:r>
              <a:rPr sz="1400" b="0" i="0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Technical Challenges, Solutions &amp; Next Steps</a:t>
            </a:r>
          </a:p>
        </p:txBody>
      </p:sp>
      <p:sp>
        <p:nvSpPr>
          <p:cNvPr id="11" name="Text 9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6245352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sz="1000" b="0" i="0">
                <a:solidFill>
                  <a:srgbClr val="7A8F8C"/>
                </a:solidFill>
                <a:latin typeface="Calibri"/>
              </a:rPr>
              <a:t>SubSense  |  Review 1 &amp; 2 (MERN Stack Project)</a:t>
            </a:r>
            <a:endParaRPr lang="en-US" sz="1000" dirty="0"/>
          </a:p>
        </p:txBody>
      </p:sp>
      <p:sp>
        <p:nvSpPr>
          <p:cNvPr id="13" name="Rounded Rectangle 12"/>
          <p:cNvSpPr/>
          <p:nvPr/>
        </p:nvSpPr>
        <p:spPr>
          <a:xfrm>
            <a:off x="6400800" y="1700784"/>
            <a:ext cx="5120640" cy="3721608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800"/>
              </a:spcAft>
            </a:pPr>
            <a:r>
              <a:rPr sz="1400" b="1" i="0" dirty="0" err="1">
                <a:solidFill>
                  <a:srgbClr val="02809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SubSense</a:t>
            </a:r>
            <a:r>
              <a:rPr sz="1400" b="1" i="0" dirty="0">
                <a:solidFill>
                  <a:srgbClr val="02809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Project Overview</a:t>
            </a:r>
          </a:p>
          <a:p>
            <a:pPr>
              <a:spcAft>
                <a:spcPts val="1000"/>
              </a:spcAft>
            </a:pPr>
            <a:r>
              <a:rPr sz="1400" b="1" i="0" dirty="0">
                <a:solidFill>
                  <a:srgbClr val="00A89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SaaS Subscription &amp; Expense Analytics Dashboard</a:t>
            </a:r>
          </a:p>
          <a:p>
            <a:pPr>
              <a:spcAft>
                <a:spcPts val="600"/>
              </a:spcAft>
            </a:pPr>
            <a:r>
              <a:rPr sz="1400" b="0" i="0" dirty="0">
                <a:solidFill>
                  <a:srgbClr val="1B2A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Problem: The average professional/team manages 8+ subscriptions, leading to billing surprises, untracked renewals, and redundant tool spending.</a:t>
            </a:r>
          </a:p>
          <a:p>
            <a:pPr>
              <a:spcAft>
                <a:spcPts val="600"/>
              </a:spcAft>
            </a:pPr>
            <a:r>
              <a:rPr sz="1400" b="0" i="0" dirty="0">
                <a:solidFill>
                  <a:srgbClr val="1B2A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Solution: </a:t>
            </a:r>
            <a:r>
              <a:rPr sz="1400" b="0" i="0" dirty="0" err="1">
                <a:solidFill>
                  <a:srgbClr val="1B2A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SubSense</a:t>
            </a:r>
            <a:r>
              <a:rPr sz="1400" b="0" i="0" dirty="0">
                <a:solidFill>
                  <a:srgbClr val="1B2A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centralizes all recurring subscriptions into an executive </a:t>
            </a:r>
            <a:r>
              <a:rPr sz="1400" b="0" i="0" dirty="0" err="1">
                <a:solidFill>
                  <a:srgbClr val="1B2A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glassmorphic</a:t>
            </a:r>
            <a:r>
              <a:rPr sz="1400" b="0" i="0" dirty="0">
                <a:solidFill>
                  <a:srgbClr val="1B2A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dashboard with live spend analytics and renewal alerts.</a:t>
            </a:r>
          </a:p>
          <a:p>
            <a:pPr>
              <a:spcAft>
                <a:spcPts val="600"/>
              </a:spcAft>
            </a:pPr>
            <a:r>
              <a:rPr sz="1400" b="0" i="0" dirty="0">
                <a:solidFill>
                  <a:srgbClr val="1B2A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Architecture: Built with the MERN stack (MongoDB, Express.js, React 18, Node.js) with JWT authentication and Recharts data visualization.</a:t>
            </a:r>
          </a:p>
          <a:p>
            <a:pPr>
              <a:spcAft>
                <a:spcPts val="600"/>
              </a:spcAft>
            </a:pPr>
            <a:r>
              <a:rPr sz="1400" b="0" i="0" dirty="0">
                <a:solidFill>
                  <a:srgbClr val="1B2A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Review Scope: Comprehensive review of system design, database architecture, end-to-end API integration, UI implementation, and test suites.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57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71323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Functional &amp; Non-Functional Requirements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097280" y="1371600"/>
            <a:ext cx="10607040" cy="0"/>
          </a:xfrm>
          <a:prstGeom prst="line">
            <a:avLst/>
          </a:prstGeom>
          <a:noFill/>
          <a:ln w="12700">
            <a:solidFill>
              <a:srgbClr val="D7E7E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97280" y="1737360"/>
            <a:ext cx="5029200" cy="4507992"/>
          </a:xfrm>
          <a:prstGeom prst="roundRect">
            <a:avLst>
              <a:gd name="adj" fmla="val 1778"/>
            </a:avLst>
          </a:prstGeom>
          <a:solidFill>
            <a:srgbClr val="F4FAF9"/>
          </a:solidFill>
          <a:ln w="12700">
            <a:solidFill>
              <a:srgbClr val="D7E7E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371600" y="19202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Functional Requirements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325880" y="2937121"/>
            <a:ext cx="4572000" cy="25327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sz="1600" b="0" i="0" dirty="0">
                <a:solidFill>
                  <a:srgbClr val="1B2A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 registration, login &amp; secure JWT token authentication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400"/>
              </a:spcAft>
            </a:pPr>
            <a:r>
              <a:rPr sz="1600" b="0" i="0" dirty="0">
                <a:solidFill>
                  <a:srgbClr val="1B2A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Centralized subscription tracking &amp; lifecycle states (Active, Paused, Cancelled)</a:t>
            </a:r>
          </a:p>
          <a:p>
            <a:pPr>
              <a:spcAft>
                <a:spcPts val="400"/>
              </a:spcAft>
            </a:pPr>
            <a:r>
              <a:rPr sz="1600" b="0" i="0" dirty="0">
                <a:solidFill>
                  <a:srgbClr val="1B2A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Multi-cycle billing calculation (Monthly, Weekly, Quarterly, Yearly)</a:t>
            </a:r>
          </a:p>
          <a:p>
            <a:pPr>
              <a:spcAft>
                <a:spcPts val="400"/>
              </a:spcAft>
            </a:pPr>
            <a:r>
              <a:rPr sz="1600" b="0" i="0" dirty="0">
                <a:solidFill>
                  <a:srgbClr val="1B2A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Real-time spend analytics &amp; interactive Recharts spend trend visualization</a:t>
            </a:r>
          </a:p>
          <a:p>
            <a:pPr>
              <a:spcAft>
                <a:spcPts val="400"/>
              </a:spcAft>
            </a:pPr>
            <a:r>
              <a:rPr sz="1600" b="0" i="0" dirty="0">
                <a:solidFill>
                  <a:srgbClr val="1B2A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Category-based budget tracking with dynamic spending cap alerts</a:t>
            </a:r>
          </a:p>
          <a:p>
            <a:pPr>
              <a:spcAft>
                <a:spcPts val="400"/>
              </a:spcAft>
            </a:pPr>
            <a:r>
              <a:rPr sz="1600" b="0" i="0" dirty="0">
                <a:solidFill>
                  <a:srgbClr val="1B2A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Proactive renewal reminders &amp; automated payment due-date countdown</a:t>
            </a:r>
          </a:p>
          <a:p>
            <a:pPr>
              <a:spcAft>
                <a:spcPts val="400"/>
              </a:spcAft>
            </a:pPr>
            <a:r>
              <a:rPr sz="1600" b="0" i="0" dirty="0">
                <a:solidFill>
                  <a:srgbClr val="1B2A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Smart insights: duplicate subscription alerts &amp; unused license detection</a:t>
            </a:r>
          </a:p>
        </p:txBody>
      </p:sp>
      <p:sp>
        <p:nvSpPr>
          <p:cNvPr id="10" name="Shape 8"/>
          <p:cNvSpPr/>
          <p:nvPr/>
        </p:nvSpPr>
        <p:spPr>
          <a:xfrm>
            <a:off x="6400800" y="1737360"/>
            <a:ext cx="5029200" cy="4507992"/>
          </a:xfrm>
          <a:prstGeom prst="roundRect">
            <a:avLst>
              <a:gd name="adj" fmla="val 1778"/>
            </a:avLst>
          </a:prstGeom>
          <a:solidFill>
            <a:srgbClr val="F4FAF9"/>
          </a:solidFill>
          <a:ln w="12700">
            <a:solidFill>
              <a:srgbClr val="D7E7E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675120" y="19202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Non-Functional Requirements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675120" y="2423160"/>
            <a:ext cx="45720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sz="1600" b="0" i="0" dirty="0">
                <a:solidFill>
                  <a:srgbClr val="1B2A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Performance: sub-second API response (&lt; 200ms) with MongoDB compound indexing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400"/>
              </a:spcAft>
            </a:pPr>
            <a:r>
              <a:rPr sz="1600" b="0" i="0" dirty="0">
                <a:solidFill>
                  <a:srgbClr val="1B2A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Scalability: stateless REST API architecture handling high concurrent traffic</a:t>
            </a:r>
          </a:p>
          <a:p>
            <a:pPr>
              <a:spcAft>
                <a:spcPts val="400"/>
              </a:spcAft>
            </a:pPr>
            <a:r>
              <a:rPr sz="1600" b="0" i="0" dirty="0">
                <a:solidFill>
                  <a:srgbClr val="1B2A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Security: </a:t>
            </a:r>
            <a:r>
              <a:rPr sz="1600" b="0" i="0" dirty="0" err="1">
                <a:solidFill>
                  <a:srgbClr val="1B2A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BCrypt</a:t>
            </a:r>
            <a:r>
              <a:rPr sz="1600" b="0" i="0" dirty="0">
                <a:solidFill>
                  <a:srgbClr val="1B2A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password hashing (10 salt rounds), JWT Bearer tokens, CORS controls</a:t>
            </a:r>
          </a:p>
          <a:p>
            <a:pPr>
              <a:spcAft>
                <a:spcPts val="400"/>
              </a:spcAft>
            </a:pPr>
            <a:r>
              <a:rPr sz="1600" b="0" i="0" dirty="0">
                <a:solidFill>
                  <a:srgbClr val="1B2A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Usability: responsive </a:t>
            </a:r>
            <a:r>
              <a:rPr sz="1600" b="0" i="0" dirty="0" err="1">
                <a:solidFill>
                  <a:srgbClr val="1B2A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glassmorphic</a:t>
            </a:r>
            <a:r>
              <a:rPr sz="1600" b="0" i="0" dirty="0">
                <a:solidFill>
                  <a:srgbClr val="1B2A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dark UI styled with Tailwind CSS utility tokens</a:t>
            </a:r>
          </a:p>
          <a:p>
            <a:pPr>
              <a:spcAft>
                <a:spcPts val="400"/>
              </a:spcAft>
            </a:pPr>
            <a:r>
              <a:rPr sz="1600" b="0" i="0" dirty="0">
                <a:solidFill>
                  <a:srgbClr val="1B2A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Reliability: resilient MongoDB Atlas connection pooling &amp; schema validation</a:t>
            </a:r>
          </a:p>
          <a:p>
            <a:pPr>
              <a:spcAft>
                <a:spcPts val="400"/>
              </a:spcAft>
            </a:pPr>
            <a:r>
              <a:rPr sz="1600" b="0" i="0" dirty="0">
                <a:solidFill>
                  <a:srgbClr val="1B2A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Maintainability: modular MVC backend architecture &amp; reusable React components</a:t>
            </a:r>
          </a:p>
        </p:txBody>
      </p:sp>
      <p:sp>
        <p:nvSpPr>
          <p:cNvPr id="13" name="Text 11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6245352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sz="1000" b="0" i="0">
                <a:solidFill>
                  <a:srgbClr val="7A8F8C"/>
                </a:solidFill>
                <a:latin typeface="Calibri"/>
              </a:rPr>
              <a:t>SubSense  |  Review 1 &amp; 2 (MERN Stack Project)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57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71323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 (Detailed)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097280" y="1371600"/>
            <a:ext cx="10607040" cy="0"/>
          </a:xfrm>
          <a:prstGeom prst="line">
            <a:avLst/>
          </a:prstGeom>
          <a:noFill/>
          <a:ln w="12700">
            <a:solidFill>
              <a:srgbClr val="D7E7E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97280" y="2377440"/>
            <a:ext cx="3017520" cy="1828800"/>
          </a:xfrm>
          <a:prstGeom prst="roundRect">
            <a:avLst>
              <a:gd name="adj" fmla="val 5000"/>
            </a:avLst>
          </a:prstGeom>
          <a:solidFill>
            <a:srgbClr val="00A89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280160" y="26060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CLIENT TIER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280160" y="3063240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200"/>
              </a:spcAft>
              <a:buNone/>
            </a:pPr>
            <a:r>
              <a:rPr sz="1050" b="0" i="0">
                <a:solidFill>
                  <a:srgbClr val="FFFFFF"/>
                </a:solidFill>
                <a:latin typeface="Calibri"/>
              </a:rPr>
              <a:t>React.js 18 + Vite (SPA)</a:t>
            </a:r>
            <a:endParaRPr lang="en-US" sz="1150" dirty="0"/>
          </a:p>
          <a:p>
            <a:pPr>
              <a:spcAft>
                <a:spcPts val="200"/>
              </a:spcAft>
            </a:pPr>
            <a:r>
              <a:rPr sz="1050" b="0" i="0">
                <a:solidFill>
                  <a:srgbClr val="FFFFFF"/>
                </a:solidFill>
                <a:latin typeface="Calibri"/>
              </a:rPr>
              <a:t>React Context API (Auth)</a:t>
            </a:r>
          </a:p>
          <a:p>
            <a:pPr>
              <a:spcAft>
                <a:spcPts val="200"/>
              </a:spcAft>
            </a:pPr>
            <a:r>
              <a:rPr sz="1050" b="0" i="0">
                <a:solidFill>
                  <a:srgbClr val="FFFFFF"/>
                </a:solidFill>
                <a:latin typeface="Calibri"/>
              </a:rPr>
              <a:t>Tailwind CSS + Glassmorphism</a:t>
            </a:r>
          </a:p>
          <a:p>
            <a:pPr>
              <a:spcAft>
                <a:spcPts val="200"/>
              </a:spcAft>
            </a:pPr>
            <a:r>
              <a:rPr sz="1050" b="0" i="0">
                <a:solidFill>
                  <a:srgbClr val="FFFFFF"/>
                </a:solidFill>
                <a:latin typeface="Calibri"/>
              </a:rPr>
              <a:t>Recharts (Area &amp; Donut)</a:t>
            </a:r>
          </a:p>
          <a:p>
            <a:pPr>
              <a:spcAft>
                <a:spcPts val="200"/>
              </a:spcAft>
            </a:pPr>
            <a:r>
              <a:rPr sz="1050" b="0" i="0">
                <a:solidFill>
                  <a:srgbClr val="FFFFFF"/>
                </a:solidFill>
                <a:latin typeface="Calibri"/>
              </a:rPr>
              <a:t>Axios HTTP (Bearer JWT)</a:t>
            </a:r>
          </a:p>
        </p:txBody>
      </p:sp>
      <p:sp>
        <p:nvSpPr>
          <p:cNvPr id="10" name="Text 8"/>
          <p:cNvSpPr txBox="1"/>
          <p:nvPr/>
        </p:nvSpPr>
        <p:spPr>
          <a:xfrm>
            <a:off x="4114800" y="301752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⇄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4617720" y="2377440"/>
            <a:ext cx="3017520" cy="1828800"/>
          </a:xfrm>
          <a:prstGeom prst="roundRect">
            <a:avLst>
              <a:gd name="adj" fmla="val 5000"/>
            </a:avLst>
          </a:prstGeom>
          <a:solidFill>
            <a:srgbClr val="028090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800600" y="26060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 TIER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800600" y="3063240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200"/>
              </a:spcAft>
              <a:buNone/>
            </a:pPr>
            <a:r>
              <a:rPr sz="1050" b="0" i="0">
                <a:solidFill>
                  <a:srgbClr val="FFFFFF"/>
                </a:solidFill>
                <a:latin typeface="Calibri"/>
              </a:rPr>
              <a:t>Node.js + Express.js REST API</a:t>
            </a:r>
            <a:endParaRPr lang="en-US" sz="1150" dirty="0"/>
          </a:p>
          <a:p>
            <a:pPr>
              <a:spcAft>
                <a:spcPts val="200"/>
              </a:spcAft>
            </a:pPr>
            <a:r>
              <a:rPr sz="1050" b="0" i="0">
                <a:solidFill>
                  <a:srgbClr val="FFFFFF"/>
                </a:solidFill>
                <a:latin typeface="Calibri"/>
              </a:rPr>
              <a:t>JWT Authentication Middleware</a:t>
            </a:r>
          </a:p>
          <a:p>
            <a:pPr>
              <a:spcAft>
                <a:spcPts val="200"/>
              </a:spcAft>
            </a:pPr>
            <a:r>
              <a:rPr sz="1050" b="0" i="0">
                <a:solidFill>
                  <a:srgbClr val="FFFFFF"/>
                </a:solidFill>
                <a:latin typeface="Calibri"/>
              </a:rPr>
              <a:t>Payload Validation Layer</a:t>
            </a:r>
          </a:p>
          <a:p>
            <a:pPr>
              <a:spcAft>
                <a:spcPts val="200"/>
              </a:spcAft>
            </a:pPr>
            <a:r>
              <a:rPr sz="1050" b="0" i="0">
                <a:solidFill>
                  <a:srgbClr val="FFFFFF"/>
                </a:solidFill>
                <a:latin typeface="Calibri"/>
              </a:rPr>
              <a:t>MVC Controllers &amp; Services</a:t>
            </a:r>
          </a:p>
          <a:p>
            <a:pPr>
              <a:spcAft>
                <a:spcPts val="200"/>
              </a:spcAft>
            </a:pPr>
            <a:r>
              <a:rPr sz="1050" b="0" i="0">
                <a:solidFill>
                  <a:srgbClr val="FFFFFF"/>
                </a:solidFill>
                <a:latin typeface="Calibri"/>
              </a:rPr>
              <a:t>Jest &amp; Supertest Test Suites</a:t>
            </a:r>
          </a:p>
        </p:txBody>
      </p:sp>
      <p:sp>
        <p:nvSpPr>
          <p:cNvPr id="14" name="Text 12"/>
          <p:cNvSpPr txBox="1"/>
          <p:nvPr/>
        </p:nvSpPr>
        <p:spPr>
          <a:xfrm>
            <a:off x="7635240" y="3017520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⇄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8138160" y="2377440"/>
            <a:ext cx="3017520" cy="1828800"/>
          </a:xfrm>
          <a:prstGeom prst="roundRect">
            <a:avLst>
              <a:gd name="adj" fmla="val 5000"/>
            </a:avLst>
          </a:prstGeom>
          <a:solidFill>
            <a:srgbClr val="1B2A2E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321040" y="26060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TIER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8321040" y="3063240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200"/>
              </a:spcAft>
              <a:buNone/>
            </a:pPr>
            <a:r>
              <a:rPr sz="1050" b="0" i="0">
                <a:solidFill>
                  <a:srgbClr val="FFFFFF"/>
                </a:solidFill>
                <a:latin typeface="Calibri"/>
              </a:rPr>
              <a:t>MongoDB Atlas Cloud DB</a:t>
            </a:r>
            <a:endParaRPr lang="en-US" sz="1150" dirty="0"/>
          </a:p>
          <a:p>
            <a:pPr>
              <a:spcAft>
                <a:spcPts val="200"/>
              </a:spcAft>
            </a:pPr>
            <a:r>
              <a:rPr sz="1050" b="0" i="0">
                <a:solidFill>
                  <a:srgbClr val="FFFFFF"/>
                </a:solidFill>
                <a:latin typeface="Calibri"/>
              </a:rPr>
              <a:t>Mongoose ODM Models</a:t>
            </a:r>
          </a:p>
          <a:p>
            <a:pPr>
              <a:spcAft>
                <a:spcPts val="200"/>
              </a:spcAft>
            </a:pPr>
            <a:r>
              <a:rPr sz="1050" b="0" i="0">
                <a:solidFill>
                  <a:srgbClr val="FFFFFF"/>
                </a:solidFill>
                <a:latin typeface="Calibri"/>
              </a:rPr>
              <a:t>Users &amp; Subscriptions Collections</a:t>
            </a:r>
          </a:p>
          <a:p>
            <a:pPr>
              <a:spcAft>
                <a:spcPts val="200"/>
              </a:spcAft>
            </a:pPr>
            <a:r>
              <a:rPr sz="1050" b="0" i="0">
                <a:solidFill>
                  <a:srgbClr val="FFFFFF"/>
                </a:solidFill>
                <a:latin typeface="Calibri"/>
              </a:rPr>
              <a:t>Compound &amp; Unique Indexes</a:t>
            </a:r>
          </a:p>
          <a:p>
            <a:pPr>
              <a:spcAft>
                <a:spcPts val="200"/>
              </a:spcAft>
            </a:pPr>
            <a:r>
              <a:rPr sz="1050" b="0" i="0">
                <a:solidFill>
                  <a:srgbClr val="FFFFFF"/>
                </a:solidFill>
                <a:latin typeface="Calibri"/>
              </a:rPr>
              <a:t>Schema Enums &amp; Sanitization</a:t>
            </a:r>
          </a:p>
        </p:txBody>
      </p:sp>
      <p:sp>
        <p:nvSpPr>
          <p:cNvPr id="18" name="Text 16"/>
          <p:cNvSpPr txBox="1"/>
          <p:nvPr/>
        </p:nvSpPr>
        <p:spPr>
          <a:xfrm>
            <a:off x="1097280" y="4572000"/>
            <a:ext cx="9966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sz="1200" b="0" i="0">
                <a:solidFill>
                  <a:srgbClr val="1B2A2E"/>
                </a:solidFill>
                <a:latin typeface="Calibri"/>
              </a:rPr>
              <a:t>Stateless HTTP/HTTPS REST requests flow from the React 18 client through Express endpoints, verified by JWT auth and validation middleware, before querying MongoDB Atlas via Mongoose ODM.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1097280" y="5257800"/>
            <a:ext cx="9966960" cy="777240"/>
          </a:xfrm>
          <a:prstGeom prst="roundRect">
            <a:avLst>
              <a:gd name="adj" fmla="val 9412"/>
            </a:avLst>
          </a:prstGeom>
          <a:solidFill>
            <a:srgbClr val="F4FAF9"/>
          </a:solidFill>
          <a:ln w="12700">
            <a:solidFill>
              <a:srgbClr val="D7E7E5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325880" y="5257800"/>
            <a:ext cx="9509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sz="1100" b="1" i="0">
                <a:solidFill>
                  <a:srgbClr val="028090"/>
                </a:solidFill>
                <a:latin typeface="Calibri"/>
              </a:rPr>
              <a:t>Architecture Pipeline: Client Tier (React 18 + Vite) ⇄ Application Tier (Node/Express REST API + JWT) ⇄ Data Tier (MongoDB Atlas Cloud Cluster via Mongoose ODM).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6245352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sz="1000" b="0" i="0">
                <a:solidFill>
                  <a:srgbClr val="7A8F8C"/>
                </a:solidFill>
                <a:latin typeface="Calibri"/>
              </a:rPr>
              <a:t>SubSense  |  Review 1 &amp; 2 (MERN Stack Project)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57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71323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 Case Diagram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097280" y="1371600"/>
            <a:ext cx="10607040" cy="0"/>
          </a:xfrm>
          <a:prstGeom prst="line">
            <a:avLst/>
          </a:prstGeom>
          <a:noFill/>
          <a:ln w="12700">
            <a:solidFill>
              <a:srgbClr val="D7E7E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97280" y="1737360"/>
            <a:ext cx="6035040" cy="4114800"/>
          </a:xfrm>
          <a:prstGeom prst="roundRect">
            <a:avLst>
              <a:gd name="adj" fmla="val 1778"/>
            </a:avLst>
          </a:prstGeom>
          <a:solidFill>
            <a:srgbClr val="F4FAF9"/>
          </a:solidFill>
          <a:ln w="19050">
            <a:solidFill>
              <a:srgbClr val="00A896"/>
            </a:solidFill>
            <a:prstDash val="dash"/>
          </a:ln>
        </p:spPr>
      </p:sp>
      <p:sp>
        <p:nvSpPr>
          <p:cNvPr id="8" name="Text 6"/>
          <p:cNvSpPr txBox="1"/>
          <p:nvPr/>
        </p:nvSpPr>
        <p:spPr>
          <a:xfrm>
            <a:off x="1280160" y="3474720"/>
            <a:ext cx="5669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406640" y="1737360"/>
            <a:ext cx="3657600" cy="41148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7E7E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635240" y="19202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sz="1400" b="1" i="0">
                <a:solidFill>
                  <a:srgbClr val="028090"/>
                </a:solidFill>
                <a:latin typeface="Cambria"/>
              </a:rPr>
              <a:t>System Actors &amp; Use Cases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7635240" y="2331720"/>
            <a:ext cx="32004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▪"/>
            </a:pPr>
            <a:r>
              <a:rPr sz="1050" b="0" i="0">
                <a:solidFill>
                  <a:srgbClr val="1B2A2E"/>
                </a:solidFill>
                <a:latin typeface="Calibri"/>
              </a:rPr>
              <a:t>Primary Actor: Registered User</a:t>
            </a:r>
            <a:endParaRPr lang="en-US" sz="1200" dirty="0"/>
          </a:p>
          <a:p>
            <a:pPr>
              <a:spcAft>
                <a:spcPts val="200"/>
              </a:spcAft>
            </a:pPr>
            <a:r>
              <a:rPr sz="1050" b="0" i="0">
                <a:solidFill>
                  <a:srgbClr val="1B2A2E"/>
                </a:solidFill>
                <a:latin typeface="Calibri"/>
              </a:rPr>
              <a:t>  • Secure Register &amp; Login (JWT Auth)</a:t>
            </a:r>
          </a:p>
          <a:p>
            <a:pPr>
              <a:spcAft>
                <a:spcPts val="200"/>
              </a:spcAft>
            </a:pPr>
            <a:r>
              <a:rPr sz="1050" b="0" i="0">
                <a:solidFill>
                  <a:srgbClr val="1B2A2E"/>
                </a:solidFill>
                <a:latin typeface="Calibri"/>
              </a:rPr>
              <a:t>  • Add, Edit, Delete Subscriptions (CRUD)</a:t>
            </a:r>
          </a:p>
          <a:p>
            <a:pPr>
              <a:spcAft>
                <a:spcPts val="200"/>
              </a:spcAft>
            </a:pPr>
            <a:r>
              <a:rPr sz="1050" b="0" i="0">
                <a:solidFill>
                  <a:srgbClr val="1B2A2E"/>
                </a:solidFill>
                <a:latin typeface="Calibri"/>
              </a:rPr>
              <a:t>  • Filter &amp; Search (Category, Status, Cycle)</a:t>
            </a:r>
          </a:p>
          <a:p>
            <a:pPr>
              <a:spcAft>
                <a:spcPts val="200"/>
              </a:spcAft>
            </a:pPr>
            <a:r>
              <a:rPr sz="1050" b="0" i="0">
                <a:solidFill>
                  <a:srgbClr val="1B2A2E"/>
                </a:solidFill>
                <a:latin typeface="Calibri"/>
              </a:rPr>
              <a:t>  • View Live Spend Analytics &amp; Trends</a:t>
            </a:r>
          </a:p>
          <a:p>
            <a:pPr>
              <a:spcAft>
                <a:spcPts val="200"/>
              </a:spcAft>
            </a:pPr>
            <a:r>
              <a:rPr sz="1050" b="0" i="0">
                <a:solidFill>
                  <a:srgbClr val="1B2A2E"/>
                </a:solidFill>
                <a:latin typeface="Calibri"/>
              </a:rPr>
              <a:t>  • Configure Category Budget Guardrails</a:t>
            </a:r>
          </a:p>
          <a:p>
            <a:pPr>
              <a:spcAft>
                <a:spcPts val="200"/>
              </a:spcAft>
            </a:pPr>
            <a:r>
              <a:rPr sz="1050" b="0" i="0">
                <a:solidFill>
                  <a:srgbClr val="1B2A2E"/>
                </a:solidFill>
                <a:latin typeface="Calibri"/>
              </a:rPr>
              <a:t>  • Track Upcoming Renewal Due Dates</a:t>
            </a:r>
          </a:p>
          <a:p>
            <a:pPr>
              <a:spcAft>
                <a:spcPts val="200"/>
              </a:spcAft>
            </a:pPr>
            <a:endParaRPr sz="1050" b="0" i="0">
              <a:solidFill>
                <a:srgbClr val="1B2A2E"/>
              </a:solidFill>
              <a:latin typeface="Calibri"/>
            </a:endParaRPr>
          </a:p>
          <a:p>
            <a:pPr>
              <a:spcAft>
                <a:spcPts val="200"/>
              </a:spcAft>
            </a:pPr>
            <a:r>
              <a:rPr sz="1050" b="0" i="0">
                <a:solidFill>
                  <a:srgbClr val="1B2A2E"/>
                </a:solidFill>
                <a:latin typeface="Calibri"/>
              </a:rPr>
              <a:t>Secondary Actor: Notification Engine</a:t>
            </a:r>
          </a:p>
          <a:p>
            <a:pPr>
              <a:spcAft>
                <a:spcPts val="200"/>
              </a:spcAft>
            </a:pPr>
            <a:r>
              <a:rPr sz="1050" b="0" i="0">
                <a:solidFill>
                  <a:srgbClr val="1B2A2E"/>
                </a:solidFill>
                <a:latin typeface="Calibri"/>
              </a:rPr>
              <a:t>  • Calculate Renewal Due Countdowns</a:t>
            </a:r>
          </a:p>
          <a:p>
            <a:pPr>
              <a:spcAft>
                <a:spcPts val="200"/>
              </a:spcAft>
            </a:pPr>
            <a:r>
              <a:rPr sz="1050" b="0" i="0">
                <a:solidFill>
                  <a:srgbClr val="1B2A2E"/>
                </a:solidFill>
                <a:latin typeface="Calibri"/>
              </a:rPr>
              <a:t>  • Trigger Proactive Renewal Alerts (3d/1d)</a:t>
            </a:r>
          </a:p>
          <a:p>
            <a:pPr>
              <a:spcAft>
                <a:spcPts val="200"/>
              </a:spcAft>
            </a:pPr>
            <a:r>
              <a:rPr sz="1050" b="0" i="0">
                <a:solidFill>
                  <a:srgbClr val="1B2A2E"/>
                </a:solidFill>
                <a:latin typeface="Calibri"/>
              </a:rPr>
              <a:t>  • Detect Duplicate Subscriptions</a:t>
            </a:r>
          </a:p>
          <a:p>
            <a:pPr>
              <a:spcAft>
                <a:spcPts val="200"/>
              </a:spcAft>
            </a:pPr>
            <a:endParaRPr sz="1050" b="0" i="0">
              <a:solidFill>
                <a:srgbClr val="1B2A2E"/>
              </a:solidFill>
              <a:latin typeface="Calibri"/>
            </a:endParaRPr>
          </a:p>
          <a:p>
            <a:pPr>
              <a:spcAft>
                <a:spcPts val="200"/>
              </a:spcAft>
            </a:pPr>
            <a:r>
              <a:rPr sz="1050" b="0" i="0">
                <a:solidFill>
                  <a:srgbClr val="1B2A2E"/>
                </a:solidFill>
                <a:latin typeface="Calibri"/>
              </a:rPr>
              <a:t>Relationships: User initiates interactive CRUD; Engine monitors cron-scheduled events.</a:t>
            </a:r>
          </a:p>
        </p:txBody>
      </p:sp>
      <p:sp>
        <p:nvSpPr>
          <p:cNvPr id="12" name="Text 10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6245352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sz="1000" b="0" i="0">
                <a:solidFill>
                  <a:srgbClr val="7A8F8C"/>
                </a:solidFill>
                <a:latin typeface="Calibri"/>
              </a:rPr>
              <a:t>SubSense  |  Review 1 &amp; 2 (MERN Stack Project)</a:t>
            </a:r>
            <a:endParaRPr lang="en-US" sz="1000" dirty="0"/>
          </a:p>
        </p:txBody>
      </p:sp>
      <p:pic>
        <p:nvPicPr>
          <p:cNvPr id="14" name="Picture 13" descr="usecase_diag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1737360"/>
            <a:ext cx="603504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57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 DIAGRAM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71323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 Diagram / Database Design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097280" y="1371600"/>
            <a:ext cx="10607040" cy="0"/>
          </a:xfrm>
          <a:prstGeom prst="line">
            <a:avLst/>
          </a:prstGeom>
          <a:noFill/>
          <a:ln w="12700">
            <a:solidFill>
              <a:srgbClr val="D7E7E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97280" y="1737360"/>
            <a:ext cx="6035040" cy="4114800"/>
          </a:xfrm>
          <a:prstGeom prst="roundRect">
            <a:avLst>
              <a:gd name="adj" fmla="val 1778"/>
            </a:avLst>
          </a:prstGeom>
          <a:solidFill>
            <a:srgbClr val="F4FAF9"/>
          </a:solidFill>
          <a:ln w="19050">
            <a:solidFill>
              <a:srgbClr val="00A896"/>
            </a:solidFill>
            <a:prstDash val="dash"/>
          </a:ln>
        </p:spPr>
      </p:sp>
      <p:sp>
        <p:nvSpPr>
          <p:cNvPr id="8" name="Text 6"/>
          <p:cNvSpPr txBox="1"/>
          <p:nvPr/>
        </p:nvSpPr>
        <p:spPr>
          <a:xfrm>
            <a:off x="1280160" y="3474720"/>
            <a:ext cx="5669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406640" y="1737360"/>
            <a:ext cx="3657600" cy="41148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7E7E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635240" y="19202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sz="1400" b="1" i="0">
                <a:solidFill>
                  <a:srgbClr val="028090"/>
                </a:solidFill>
                <a:latin typeface="Cambria"/>
              </a:rPr>
              <a:t>Database Schema Design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7635240" y="2331720"/>
            <a:ext cx="32004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▪"/>
            </a:pPr>
            <a:r>
              <a:rPr sz="1000" b="0" i="0">
                <a:solidFill>
                  <a:srgbClr val="1B2A2E"/>
                </a:solidFill>
                <a:latin typeface="Calibri"/>
              </a:rPr>
              <a:t>Users Collection ('users'):</a:t>
            </a:r>
            <a:endParaRPr lang="en-US" sz="1200" dirty="0"/>
          </a:p>
          <a:p>
            <a:pPr>
              <a:spcAft>
                <a:spcPts val="200"/>
              </a:spcAft>
            </a:pPr>
            <a:r>
              <a:rPr sz="1000" b="0" i="0">
                <a:solidFill>
                  <a:srgbClr val="1B2A2E"/>
                </a:solidFill>
                <a:latin typeface="Calibri"/>
              </a:rPr>
              <a:t>  • _id: ObjectId [Primary Key]</a:t>
            </a:r>
          </a:p>
          <a:p>
            <a:pPr>
              <a:spcAft>
                <a:spcPts val="200"/>
              </a:spcAft>
            </a:pPr>
            <a:r>
              <a:rPr sz="1000" b="0" i="0">
                <a:solidFill>
                  <a:srgbClr val="1B2A2E"/>
                </a:solidFill>
                <a:latin typeface="Calibri"/>
              </a:rPr>
              <a:t>  • name, email [Unique, Lowercase], password [BCrypt]</a:t>
            </a:r>
          </a:p>
          <a:p>
            <a:pPr>
              <a:spcAft>
                <a:spcPts val="200"/>
              </a:spcAft>
            </a:pPr>
            <a:r>
              <a:rPr sz="1000" b="0" i="0">
                <a:solidFill>
                  <a:srgbClr val="1B2A2E"/>
                </a:solidFill>
                <a:latin typeface="Calibri"/>
              </a:rPr>
              <a:t>  • createdAt, updatedAt [Timestamps]</a:t>
            </a:r>
          </a:p>
          <a:p>
            <a:pPr>
              <a:spcAft>
                <a:spcPts val="200"/>
              </a:spcAft>
            </a:pPr>
            <a:endParaRPr sz="1000" b="0" i="0">
              <a:solidFill>
                <a:srgbClr val="1B2A2E"/>
              </a:solidFill>
              <a:latin typeface="Calibri"/>
            </a:endParaRPr>
          </a:p>
          <a:p>
            <a:pPr>
              <a:spcAft>
                <a:spcPts val="200"/>
              </a:spcAft>
            </a:pPr>
            <a:r>
              <a:rPr sz="1000" b="0" i="0">
                <a:solidFill>
                  <a:srgbClr val="1B2A2E"/>
                </a:solidFill>
                <a:latin typeface="Calibri"/>
              </a:rPr>
              <a:t>Subscriptions Collection ('subscriptions'):</a:t>
            </a:r>
          </a:p>
          <a:p>
            <a:pPr>
              <a:spcAft>
                <a:spcPts val="200"/>
              </a:spcAft>
            </a:pPr>
            <a:r>
              <a:rPr sz="1000" b="0" i="0">
                <a:solidFill>
                  <a:srgbClr val="1B2A2E"/>
                </a:solidFill>
                <a:latin typeface="Calibri"/>
              </a:rPr>
              <a:t>  • _id: ObjectId [Primary Key]</a:t>
            </a:r>
          </a:p>
          <a:p>
            <a:pPr>
              <a:spcAft>
                <a:spcPts val="200"/>
              </a:spcAft>
            </a:pPr>
            <a:r>
              <a:rPr sz="1000" b="0" i="0">
                <a:solidFill>
                  <a:srgbClr val="1B2A2E"/>
                </a:solidFill>
                <a:latin typeface="Calibri"/>
              </a:rPr>
              <a:t>  • userId: ObjectId [Foreign Key -&gt; users._id, Indexed]</a:t>
            </a:r>
          </a:p>
          <a:p>
            <a:pPr>
              <a:spcAft>
                <a:spcPts val="200"/>
              </a:spcAft>
            </a:pPr>
            <a:r>
              <a:rPr sz="1000" b="0" i="0">
                <a:solidFill>
                  <a:srgbClr val="1B2A2E"/>
                </a:solidFill>
                <a:latin typeface="Calibri"/>
              </a:rPr>
              <a:t>  • serviceName, price, currency (USD)</a:t>
            </a:r>
          </a:p>
          <a:p>
            <a:pPr>
              <a:spcAft>
                <a:spcPts val="200"/>
              </a:spcAft>
            </a:pPr>
            <a:r>
              <a:rPr sz="1000" b="0" i="0">
                <a:solidFill>
                  <a:srgbClr val="1B2A2E"/>
                </a:solidFill>
                <a:latin typeface="Calibri"/>
              </a:rPr>
              <a:t>  • category: Enum (Entertainment, Dev, Cloud, Design...)</a:t>
            </a:r>
          </a:p>
          <a:p>
            <a:pPr>
              <a:spcAft>
                <a:spcPts val="200"/>
              </a:spcAft>
            </a:pPr>
            <a:r>
              <a:rPr sz="1000" b="0" i="0">
                <a:solidFill>
                  <a:srgbClr val="1B2A2E"/>
                </a:solidFill>
                <a:latin typeface="Calibri"/>
              </a:rPr>
              <a:t>  • billingCycle: Enum (Weekly, Monthly, Quarterly, Yearly)</a:t>
            </a:r>
          </a:p>
          <a:p>
            <a:pPr>
              <a:spcAft>
                <a:spcPts val="200"/>
              </a:spcAft>
            </a:pPr>
            <a:r>
              <a:rPr sz="1000" b="0" i="0">
                <a:solidFill>
                  <a:srgbClr val="1B2A2E"/>
                </a:solidFill>
                <a:latin typeface="Calibri"/>
              </a:rPr>
              <a:t>  • renewalDate: Date [Indexed], status: Enum (Active/Paused)</a:t>
            </a:r>
          </a:p>
          <a:p>
            <a:pPr>
              <a:spcAft>
                <a:spcPts val="200"/>
              </a:spcAft>
            </a:pPr>
            <a:endParaRPr sz="1000" b="0" i="0">
              <a:solidFill>
                <a:srgbClr val="1B2A2E"/>
              </a:solidFill>
              <a:latin typeface="Calibri"/>
            </a:endParaRPr>
          </a:p>
          <a:p>
            <a:pPr>
              <a:spcAft>
                <a:spcPts val="200"/>
              </a:spcAft>
            </a:pPr>
            <a:r>
              <a:rPr sz="1000" b="0" i="0">
                <a:solidFill>
                  <a:srgbClr val="1B2A2E"/>
                </a:solidFill>
                <a:latin typeface="Calibri"/>
              </a:rPr>
              <a:t>Cardinality: 1:N (1 User has many Subscriptions)</a:t>
            </a:r>
          </a:p>
          <a:p>
            <a:pPr>
              <a:spcAft>
                <a:spcPts val="200"/>
              </a:spcAft>
            </a:pPr>
            <a:r>
              <a:rPr sz="1000" b="0" i="0">
                <a:solidFill>
                  <a:srgbClr val="1B2A2E"/>
                </a:solidFill>
                <a:latin typeface="Calibri"/>
              </a:rPr>
              <a:t>Optimization: Compound index on { userId: 1, createdAt: -1 }.</a:t>
            </a:r>
          </a:p>
        </p:txBody>
      </p:sp>
      <p:sp>
        <p:nvSpPr>
          <p:cNvPr id="12" name="Text 10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 Diagram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6245352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sz="1000" b="0" i="0">
                <a:solidFill>
                  <a:srgbClr val="7A8F8C"/>
                </a:solidFill>
                <a:latin typeface="Calibri"/>
              </a:rPr>
              <a:t>SubSense  |  Review 1 &amp; 2 (MERN Stack Project)</a:t>
            </a:r>
            <a:endParaRPr lang="en-US" sz="1000" dirty="0"/>
          </a:p>
        </p:txBody>
      </p:sp>
      <p:pic>
        <p:nvPicPr>
          <p:cNvPr id="14" name="Picture 13" descr="er_diag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1737360"/>
            <a:ext cx="603504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57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71323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 Description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097280" y="1371600"/>
            <a:ext cx="10607040" cy="0"/>
          </a:xfrm>
          <a:prstGeom prst="line">
            <a:avLst/>
          </a:prstGeom>
          <a:noFill/>
          <a:ln w="12700">
            <a:solidFill>
              <a:srgbClr val="D7E7E5"/>
            </a:solidFill>
            <a:prstDash val="solid"/>
          </a:ln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6302507"/>
              </p:ext>
            </p:extLst>
          </p:nvPr>
        </p:nvGraphicFramePr>
        <p:xfrm>
          <a:off x="1097280" y="1691639"/>
          <a:ext cx="9966960" cy="3518712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46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86452"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FFFFFF"/>
                          </a:solidFill>
                          <a:latin typeface="Calibri"/>
                        </a:rPr>
                        <a:t>Module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FFFFFF"/>
                          </a:solidFill>
                          <a:latin typeface="Calibri"/>
                        </a:rPr>
                        <a:t>Description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FFFFFF"/>
                          </a:solidFill>
                          <a:latin typeface="Calibri"/>
                        </a:rPr>
                        <a:t>Key Functions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6452"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1B2A2E"/>
                          </a:solidFill>
                          <a:latin typeface="Calibri"/>
                        </a:rPr>
                        <a:t>User Authentication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1B2A2E"/>
                          </a:solidFill>
                          <a:latin typeface="Calibri"/>
                        </a:rPr>
                        <a:t>Secure user onboarding, password hashing, and token issuance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1B2A2E"/>
                          </a:solidFill>
                          <a:latin typeface="Calibri"/>
                        </a:rPr>
                        <a:t>Signup, Login, JWT verification, Protected routes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6452"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1B2A2E"/>
                          </a:solidFill>
                          <a:latin typeface="Calibri"/>
                        </a:rPr>
                        <a:t>Subscription Core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1B2A2E"/>
                          </a:solidFill>
                          <a:latin typeface="Calibri"/>
                        </a:rPr>
                        <a:t>Full lifecycle management of recurring software subscriptions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1B2A2E"/>
                          </a:solidFill>
                          <a:latin typeface="Calibri"/>
                        </a:rPr>
                        <a:t>Create, Read, Update, Delete, Status Toggle, Billing cycles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6452"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1B2A2E"/>
                          </a:solidFill>
                          <a:latin typeface="Calibri"/>
                        </a:rPr>
                        <a:t>Spend Analytics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1B2A2E"/>
                          </a:solidFill>
                          <a:latin typeface="Calibri"/>
                        </a:rPr>
                        <a:t>Visual breakdown of recurring expenses and financial trends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1B2A2E"/>
                          </a:solidFill>
                          <a:latin typeface="Calibri"/>
                        </a:rPr>
                        <a:t>Recharts AreaChart, Donut category split, Run-rate projection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6452"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1B2A2E"/>
                          </a:solidFill>
                          <a:latin typeface="Calibri"/>
                        </a:rPr>
                        <a:t>Budget Guardrails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dirty="0">
                          <a:solidFill>
                            <a:srgbClr val="1B2A2E"/>
                          </a:solidFill>
                          <a:latin typeface="Calibri"/>
                        </a:rPr>
                        <a:t>Category spending limits and threshold monitoring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1B2A2E"/>
                          </a:solidFill>
                          <a:latin typeface="Calibri"/>
                        </a:rPr>
                        <a:t>Set Category Budgets, Progress tracking, Overspend alerts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6452"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1B2A2E"/>
                          </a:solidFill>
                          <a:latin typeface="Calibri"/>
                        </a:rPr>
                        <a:t>Renewal &amp; Alerts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1B2A2E"/>
                          </a:solidFill>
                          <a:latin typeface="Calibri"/>
                        </a:rPr>
                        <a:t>Timeline tracking of upcoming renewal dates and smart heuristics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dirty="0">
                          <a:solidFill>
                            <a:srgbClr val="1B2A2E"/>
                          </a:solidFill>
                          <a:latin typeface="Calibri"/>
                        </a:rPr>
                        <a:t>Renewal countdown, Days remaining, Duplicate detection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 5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6245352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sz="1000" b="0" i="0">
                <a:solidFill>
                  <a:srgbClr val="7A8F8C"/>
                </a:solidFill>
                <a:latin typeface="Calibri"/>
              </a:rPr>
              <a:t>SubSense  |  Review 1 &amp; 2 (MERN Stack Project)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57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71323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097280" y="1371600"/>
            <a:ext cx="10607040" cy="0"/>
          </a:xfrm>
          <a:prstGeom prst="line">
            <a:avLst/>
          </a:prstGeom>
          <a:noFill/>
          <a:ln w="12700">
            <a:solidFill>
              <a:srgbClr val="D7E7E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97280" y="1920240"/>
            <a:ext cx="2331720" cy="1737360"/>
          </a:xfrm>
          <a:prstGeom prst="roundRect">
            <a:avLst>
              <a:gd name="adj" fmla="val 5263"/>
            </a:avLst>
          </a:prstGeom>
          <a:solidFill>
            <a:srgbClr val="F4FAF9"/>
          </a:solidFill>
          <a:ln w="19050">
            <a:solidFill>
              <a:srgbClr val="4C9A5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97280" y="237744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4C9A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MongoDB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28803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sz="950" b="0" i="0">
                <a:solidFill>
                  <a:srgbClr val="FFFFFF"/>
                </a:solidFill>
                <a:latin typeface="Calibri"/>
              </a:rPr>
              <a:t>NoSQL document database, Mongoose ODM schemas, compound indexes, cloud Atlas deployment.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657600" y="1920240"/>
            <a:ext cx="2331720" cy="1737360"/>
          </a:xfrm>
          <a:prstGeom prst="roundRect">
            <a:avLst>
              <a:gd name="adj" fmla="val 5263"/>
            </a:avLst>
          </a:prstGeom>
          <a:solidFill>
            <a:srgbClr val="F4FAF9"/>
          </a:solidFill>
          <a:ln w="19050">
            <a:solidFill>
              <a:srgbClr val="1B2A2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657600" y="237744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B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Express.js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3657600" y="28803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sz="950" b="0" i="0">
                <a:solidFill>
                  <a:srgbClr val="FFFFFF"/>
                </a:solidFill>
                <a:latin typeface="Calibri"/>
              </a:rPr>
              <a:t>Minimalist backend framework, RESTful API architecture, JWT auth middleware, custom validators.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217920" y="1920240"/>
            <a:ext cx="2331720" cy="1737360"/>
          </a:xfrm>
          <a:prstGeom prst="roundRect">
            <a:avLst>
              <a:gd name="adj" fmla="val 5263"/>
            </a:avLst>
          </a:prstGeom>
          <a:solidFill>
            <a:srgbClr val="F4FAF9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217920" y="237744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React.js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6217920" y="28803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sz="950" b="0" i="0">
                <a:solidFill>
                  <a:srgbClr val="FFFFFF"/>
                </a:solidFill>
                <a:latin typeface="Calibri"/>
              </a:rPr>
              <a:t>React 18 SPA with Vite bundler, React Router v6, Context API, Recharts, Tailwind CSS.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778240" y="1920240"/>
            <a:ext cx="2331720" cy="1737360"/>
          </a:xfrm>
          <a:prstGeom prst="roundRect">
            <a:avLst>
              <a:gd name="adj" fmla="val 5263"/>
            </a:avLst>
          </a:prstGeom>
          <a:solidFill>
            <a:srgbClr val="F4FAF9"/>
          </a:solidFill>
          <a:ln w="19050">
            <a:solidFill>
              <a:srgbClr val="4C9A5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778240" y="237744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4C9A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Node.js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8778240" y="288036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sz="950" b="0" i="0">
                <a:solidFill>
                  <a:srgbClr val="FFFFFF"/>
                </a:solidFill>
                <a:latin typeface="Calibri"/>
              </a:rPr>
              <a:t>Asynchronous event-driven V8 JavaScript runtime, non-blocking I/O, npm package ecosystem.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1097280" y="39776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Supporting Tools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1097280" y="4434840"/>
            <a:ext cx="9966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sz="1600" b="0" i="0" dirty="0">
                <a:solidFill>
                  <a:srgbClr val="1B2A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Mongoose ODM (Object Data Modeling &amp; Schema validation)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300"/>
              </a:spcAft>
            </a:pPr>
            <a:r>
              <a:rPr sz="1600" b="0" i="0" dirty="0">
                <a:solidFill>
                  <a:srgbClr val="1B2A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Tailwind CSS (Utility-first modern dark </a:t>
            </a:r>
            <a:r>
              <a:rPr sz="1600" b="0" i="0" dirty="0" err="1">
                <a:solidFill>
                  <a:srgbClr val="1B2A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glassmorphism</a:t>
            </a:r>
            <a:r>
              <a:rPr sz="1600" b="0" i="0" dirty="0">
                <a:solidFill>
                  <a:srgbClr val="1B2A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UI)</a:t>
            </a:r>
          </a:p>
          <a:p>
            <a:pPr>
              <a:spcAft>
                <a:spcPts val="300"/>
              </a:spcAft>
            </a:pPr>
            <a:r>
              <a:rPr sz="1600" b="0" i="0" dirty="0">
                <a:solidFill>
                  <a:srgbClr val="1B2A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Recharts (Interactive SVG spend charts &amp; dynamic tooltips)</a:t>
            </a:r>
          </a:p>
          <a:p>
            <a:pPr>
              <a:spcAft>
                <a:spcPts val="300"/>
              </a:spcAft>
            </a:pPr>
            <a:r>
              <a:rPr sz="1600" b="0" i="0" dirty="0">
                <a:solidFill>
                  <a:srgbClr val="1B2A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JWT &amp; </a:t>
            </a:r>
            <a:r>
              <a:rPr sz="1600" b="0" i="0" dirty="0" err="1">
                <a:solidFill>
                  <a:srgbClr val="1B2A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bcryptjs</a:t>
            </a:r>
            <a:r>
              <a:rPr sz="1600" b="0" i="0" dirty="0">
                <a:solidFill>
                  <a:srgbClr val="1B2A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(Stateless tokens &amp; cryptographic hashing)</a:t>
            </a:r>
          </a:p>
          <a:p>
            <a:pPr>
              <a:spcAft>
                <a:spcPts val="300"/>
              </a:spcAft>
            </a:pPr>
            <a:r>
              <a:rPr sz="1600" b="0" i="0" dirty="0">
                <a:solidFill>
                  <a:srgbClr val="1B2A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Axios (Promise-based HTTP client with Bearer interceptors)</a:t>
            </a:r>
          </a:p>
          <a:p>
            <a:pPr>
              <a:spcAft>
                <a:spcPts val="300"/>
              </a:spcAft>
            </a:pPr>
            <a:r>
              <a:rPr sz="1600" b="0" i="0" dirty="0">
                <a:solidFill>
                  <a:srgbClr val="1B2A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Jest &amp; </a:t>
            </a:r>
            <a:r>
              <a:rPr sz="1600" b="0" i="0" dirty="0" err="1">
                <a:solidFill>
                  <a:srgbClr val="1B2A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Supertest</a:t>
            </a:r>
            <a:r>
              <a:rPr sz="1600" b="0" i="0" dirty="0">
                <a:solidFill>
                  <a:srgbClr val="1B2A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(Automated unit and integration testing)</a:t>
            </a:r>
          </a:p>
        </p:txBody>
      </p:sp>
      <p:sp>
        <p:nvSpPr>
          <p:cNvPr id="21" name="Text 19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6245352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sz="1000" b="0" i="0">
                <a:solidFill>
                  <a:srgbClr val="7A8F8C"/>
                </a:solidFill>
                <a:latin typeface="Calibri"/>
              </a:rPr>
              <a:t>SubSense  |  Review 1 &amp; 2 (MERN Stack Project)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57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DESIGN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71323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UI Design / Wireframes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097280" y="1371600"/>
            <a:ext cx="10607040" cy="0"/>
          </a:xfrm>
          <a:prstGeom prst="line">
            <a:avLst/>
          </a:prstGeom>
          <a:noFill/>
          <a:ln w="12700">
            <a:solidFill>
              <a:srgbClr val="D7E7E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97280" y="1737360"/>
            <a:ext cx="6035040" cy="4114800"/>
          </a:xfrm>
          <a:prstGeom prst="roundRect">
            <a:avLst>
              <a:gd name="adj" fmla="val 1778"/>
            </a:avLst>
          </a:prstGeom>
          <a:solidFill>
            <a:srgbClr val="F4FAF9"/>
          </a:solidFill>
          <a:ln w="19050">
            <a:solidFill>
              <a:srgbClr val="00A896"/>
            </a:solidFill>
            <a:prstDash val="dash"/>
          </a:ln>
        </p:spPr>
      </p:sp>
      <p:sp>
        <p:nvSpPr>
          <p:cNvPr id="8" name="Text 6"/>
          <p:cNvSpPr txBox="1"/>
          <p:nvPr/>
        </p:nvSpPr>
        <p:spPr>
          <a:xfrm>
            <a:off x="1280160" y="3474720"/>
            <a:ext cx="5669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406640" y="1737360"/>
            <a:ext cx="3657600" cy="41148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7E7E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635240" y="19202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sz="1400" b="1" i="0">
                <a:solidFill>
                  <a:srgbClr val="028090"/>
                </a:solidFill>
                <a:latin typeface="Cambria"/>
              </a:rPr>
              <a:t>Design Philosophy &amp; Hierarchy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7635240" y="2331720"/>
            <a:ext cx="320040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▪"/>
            </a:pPr>
            <a:r>
              <a:rPr sz="1000" b="0" i="0">
                <a:solidFill>
                  <a:srgbClr val="1B2A2E"/>
                </a:solidFill>
                <a:latin typeface="Calibri"/>
              </a:rPr>
              <a:t>Glassmorphic Aesthetic:</a:t>
            </a:r>
            <a:endParaRPr lang="en-US" sz="1200" dirty="0"/>
          </a:p>
          <a:p>
            <a:pPr>
              <a:spcAft>
                <a:spcPts val="200"/>
              </a:spcAft>
            </a:pPr>
            <a:r>
              <a:rPr sz="1000" b="0" i="0">
                <a:solidFill>
                  <a:srgbClr val="1B2A2E"/>
                </a:solidFill>
                <a:latin typeface="Calibri"/>
              </a:rPr>
              <a:t>  • Deep slate backdrop (#0B0F19 / #0F172A)</a:t>
            </a:r>
          </a:p>
          <a:p>
            <a:pPr>
              <a:spcAft>
                <a:spcPts val="200"/>
              </a:spcAft>
            </a:pPr>
            <a:r>
              <a:rPr sz="1000" b="0" i="0">
                <a:solidFill>
                  <a:srgbClr val="1B2A2E"/>
                </a:solidFill>
                <a:latin typeface="Calibri"/>
              </a:rPr>
              <a:t>  • High-contrast cyan &amp; emerald accents (#38BDF8, #10B981)</a:t>
            </a:r>
          </a:p>
          <a:p>
            <a:pPr>
              <a:spcAft>
                <a:spcPts val="200"/>
              </a:spcAft>
            </a:pPr>
            <a:r>
              <a:rPr sz="1000" b="0" i="0">
                <a:solidFill>
                  <a:srgbClr val="1B2A2E"/>
                </a:solidFill>
                <a:latin typeface="Calibri"/>
              </a:rPr>
              <a:t>  • Translucent glass cards with subtle borders &amp; blur</a:t>
            </a:r>
          </a:p>
          <a:p>
            <a:pPr>
              <a:spcAft>
                <a:spcPts val="200"/>
              </a:spcAft>
            </a:pPr>
            <a:endParaRPr sz="1000" b="0" i="0">
              <a:solidFill>
                <a:srgbClr val="1B2A2E"/>
              </a:solidFill>
              <a:latin typeface="Calibri"/>
            </a:endParaRPr>
          </a:p>
          <a:p>
            <a:pPr>
              <a:spcAft>
                <a:spcPts val="200"/>
              </a:spcAft>
            </a:pPr>
            <a:r>
              <a:rPr sz="1000" b="0" i="0">
                <a:solidFill>
                  <a:srgbClr val="1B2A2E"/>
                </a:solidFill>
                <a:latin typeface="Calibri"/>
              </a:rPr>
              <a:t>Component Layout Hierarchy:</a:t>
            </a:r>
          </a:p>
          <a:p>
            <a:pPr>
              <a:spcAft>
                <a:spcPts val="200"/>
              </a:spcAft>
            </a:pPr>
            <a:r>
              <a:rPr sz="1000" b="0" i="0">
                <a:solidFill>
                  <a:srgbClr val="1B2A2E"/>
                </a:solidFill>
                <a:latin typeface="Calibri"/>
              </a:rPr>
              <a:t>  • DashboardLayout: Persistent responsive Sidebar &amp; Navbar</a:t>
            </a:r>
          </a:p>
          <a:p>
            <a:pPr>
              <a:spcAft>
                <a:spcPts val="200"/>
              </a:spcAft>
            </a:pPr>
            <a:r>
              <a:rPr sz="1000" b="0" i="0">
                <a:solidFill>
                  <a:srgbClr val="1B2A2E"/>
                </a:solidFill>
                <a:latin typeface="Calibri"/>
              </a:rPr>
              <a:t>  • Metric Grid: 4 Top KPI StatCards with percentage shifts</a:t>
            </a:r>
          </a:p>
          <a:p>
            <a:pPr>
              <a:spcAft>
                <a:spcPts val="200"/>
              </a:spcAft>
            </a:pPr>
            <a:r>
              <a:rPr sz="1000" b="0" i="0">
                <a:solidFill>
                  <a:srgbClr val="1B2A2E"/>
                </a:solidFill>
                <a:latin typeface="Calibri"/>
              </a:rPr>
              <a:t>  • Visualization Grid: Spend Trajectory AreaChart &amp; Donut</a:t>
            </a:r>
          </a:p>
          <a:p>
            <a:pPr>
              <a:spcAft>
                <a:spcPts val="200"/>
              </a:spcAft>
            </a:pPr>
            <a:r>
              <a:rPr sz="1000" b="0" i="0">
                <a:solidFill>
                  <a:srgbClr val="1B2A2E"/>
                </a:solidFill>
                <a:latin typeface="Calibri"/>
              </a:rPr>
              <a:t>  • Management Table: Filter pills, Search bar, CRUD modals</a:t>
            </a:r>
          </a:p>
          <a:p>
            <a:pPr>
              <a:spcAft>
                <a:spcPts val="200"/>
              </a:spcAft>
            </a:pPr>
            <a:endParaRPr sz="1000" b="0" i="0">
              <a:solidFill>
                <a:srgbClr val="1B2A2E"/>
              </a:solidFill>
              <a:latin typeface="Calibri"/>
            </a:endParaRPr>
          </a:p>
          <a:p>
            <a:pPr>
              <a:spcAft>
                <a:spcPts val="200"/>
              </a:spcAft>
            </a:pPr>
            <a:r>
              <a:rPr sz="1000" b="0" i="0">
                <a:solidFill>
                  <a:srgbClr val="1B2A2E"/>
                </a:solidFill>
                <a:latin typeface="Calibri"/>
              </a:rPr>
              <a:t>Responsive Design:</a:t>
            </a:r>
          </a:p>
          <a:p>
            <a:pPr>
              <a:spcAft>
                <a:spcPts val="200"/>
              </a:spcAft>
            </a:pPr>
            <a:r>
              <a:rPr sz="1000" b="0" i="0">
                <a:solidFill>
                  <a:srgbClr val="1B2A2E"/>
                </a:solidFill>
                <a:latin typeface="Calibri"/>
              </a:rPr>
              <a:t>  • Tailored breakpoints for Desktop (1280px+), Tablet, Mobile</a:t>
            </a:r>
          </a:p>
          <a:p>
            <a:pPr>
              <a:spcAft>
                <a:spcPts val="200"/>
              </a:spcAft>
            </a:pPr>
            <a:r>
              <a:rPr sz="1000" b="0" i="0">
                <a:solidFill>
                  <a:srgbClr val="1B2A2E"/>
                </a:solidFill>
                <a:latin typeface="Calibri"/>
              </a:rPr>
              <a:t>  • Built with modern Tailwind CSS utility tokens.</a:t>
            </a:r>
          </a:p>
        </p:txBody>
      </p:sp>
      <p:sp>
        <p:nvSpPr>
          <p:cNvPr id="12" name="Text 10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Design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6245352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sz="1000" b="0" i="0">
                <a:solidFill>
                  <a:srgbClr val="7A8F8C"/>
                </a:solidFill>
                <a:latin typeface="Calibri"/>
              </a:rPr>
              <a:t>SubSense  |  Review 1 &amp; 2 (MERN Stack Project)</a:t>
            </a:r>
            <a:endParaRPr lang="en-US" sz="1000" dirty="0"/>
          </a:p>
        </p:txBody>
      </p:sp>
      <p:pic>
        <p:nvPicPr>
          <p:cNvPr id="14" name="Picture 13" descr="wireframe_diag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1737360"/>
            <a:ext cx="603504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57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71323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 Development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097280" y="1371600"/>
            <a:ext cx="10607040" cy="0"/>
          </a:xfrm>
          <a:prstGeom prst="line">
            <a:avLst/>
          </a:prstGeom>
          <a:noFill/>
          <a:ln w="12700">
            <a:solidFill>
              <a:srgbClr val="D7E7E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97280" y="1261872"/>
            <a:ext cx="987552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b="0" i="0" dirty="0">
                <a:solidFill>
                  <a:srgbClr val="1B2A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Built with React 18 &amp; Vite providing instant HMR and optimized production bundling (&lt; 1s build)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400"/>
              </a:spcAft>
            </a:pPr>
            <a:r>
              <a:rPr b="0" i="0" dirty="0">
                <a:solidFill>
                  <a:srgbClr val="1B2A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Component-driven modular architecture: </a:t>
            </a:r>
            <a:r>
              <a:rPr b="0" i="0" dirty="0" err="1">
                <a:solidFill>
                  <a:srgbClr val="1B2A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DashboardLayout</a:t>
            </a:r>
            <a:r>
              <a:rPr b="0" i="0" dirty="0">
                <a:solidFill>
                  <a:srgbClr val="1B2A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Sidebar, Navbar, </a:t>
            </a:r>
            <a:r>
              <a:rPr b="0" i="0" dirty="0" err="1">
                <a:solidFill>
                  <a:srgbClr val="1B2A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StatCards</a:t>
            </a:r>
            <a:r>
              <a:rPr b="0" i="0" dirty="0">
                <a:solidFill>
                  <a:srgbClr val="1B2A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Modals</a:t>
            </a:r>
          </a:p>
          <a:p>
            <a:pPr>
              <a:spcAft>
                <a:spcPts val="400"/>
              </a:spcAft>
            </a:pPr>
            <a:r>
              <a:rPr b="0" i="0" dirty="0">
                <a:solidFill>
                  <a:srgbClr val="1B2A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Global authentication state managed via React Context API (</a:t>
            </a:r>
            <a:r>
              <a:rPr b="0" i="0" dirty="0" err="1">
                <a:solidFill>
                  <a:srgbClr val="1B2A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AuthContext</a:t>
            </a:r>
            <a:r>
              <a:rPr b="0" i="0" dirty="0">
                <a:solidFill>
                  <a:srgbClr val="1B2A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with persistent </a:t>
            </a:r>
            <a:r>
              <a:rPr b="0" i="0" dirty="0" err="1">
                <a:solidFill>
                  <a:srgbClr val="1B2A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localStorage</a:t>
            </a:r>
            <a:endParaRPr b="0" i="0" dirty="0">
              <a:solidFill>
                <a:srgbClr val="1B2A2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400"/>
              </a:spcAft>
            </a:pPr>
            <a:r>
              <a:rPr b="0" i="0" dirty="0">
                <a:solidFill>
                  <a:srgbClr val="1B2A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Client-side routing implemented with React Router DOM v6 with protected route authorization guards</a:t>
            </a:r>
          </a:p>
          <a:p>
            <a:pPr>
              <a:spcAft>
                <a:spcPts val="400"/>
              </a:spcAft>
            </a:pPr>
            <a:r>
              <a:rPr b="0" i="0" dirty="0">
                <a:solidFill>
                  <a:srgbClr val="1B2A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Interactive financial data visualizations engineered with Recharts (</a:t>
            </a:r>
            <a:r>
              <a:rPr b="0" i="0" dirty="0" err="1">
                <a:solidFill>
                  <a:srgbClr val="1B2A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AreaChart</a:t>
            </a:r>
            <a:r>
              <a:rPr b="0" i="0" dirty="0">
                <a:solidFill>
                  <a:srgbClr val="1B2A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PieChart &amp; custom tooltips)</a:t>
            </a:r>
          </a:p>
          <a:p>
            <a:pPr>
              <a:spcAft>
                <a:spcPts val="400"/>
              </a:spcAft>
            </a:pPr>
            <a:r>
              <a:rPr b="0" i="0" dirty="0">
                <a:solidFill>
                  <a:srgbClr val="1B2A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Modern </a:t>
            </a:r>
            <a:r>
              <a:rPr b="0" i="0" dirty="0" err="1">
                <a:solidFill>
                  <a:srgbClr val="1B2A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glassmorphic</a:t>
            </a:r>
            <a:r>
              <a:rPr b="0" i="0" dirty="0">
                <a:solidFill>
                  <a:srgbClr val="1B2A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dark design system styled with Tailwind CSS utility classes &amp; custom CSS animations</a:t>
            </a:r>
          </a:p>
          <a:p>
            <a:pPr>
              <a:spcAft>
                <a:spcPts val="400"/>
              </a:spcAft>
            </a:pPr>
            <a:r>
              <a:rPr b="0" i="0" dirty="0">
                <a:solidFill>
                  <a:srgbClr val="1B2A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Centralized Axios HTTP client with request interceptors for automatic Bearer JWT header injection</a:t>
            </a:r>
          </a:p>
        </p:txBody>
      </p:sp>
      <p:sp>
        <p:nvSpPr>
          <p:cNvPr id="8" name="Shape 6"/>
          <p:cNvSpPr/>
          <p:nvPr/>
        </p:nvSpPr>
        <p:spPr>
          <a:xfrm>
            <a:off x="1097280" y="5623560"/>
            <a:ext cx="9966960" cy="594360"/>
          </a:xfrm>
          <a:prstGeom prst="roundRect">
            <a:avLst>
              <a:gd name="adj" fmla="val 12308"/>
            </a:avLst>
          </a:prstGeom>
          <a:solidFill>
            <a:srgbClr val="F4FAF9"/>
          </a:solidFill>
          <a:ln w="12700">
            <a:solidFill>
              <a:srgbClr val="D7E7E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325880" y="5623560"/>
            <a:ext cx="9509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sz="1050" b="1" i="0">
                <a:solidFill>
                  <a:srgbClr val="028090"/>
                </a:solidFill>
                <a:latin typeface="Calibri"/>
              </a:rPr>
              <a:t>Completed Pages &amp; Views: HomePage, LoginPage, RegisterPage, DashboardPage, SubscriptionsPage, AnalyticsPage, BudgetPage, RenewalsPage, InsightsPage, SettingsPage.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6245352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sz="1000" b="0" i="0">
                <a:solidFill>
                  <a:srgbClr val="7A8F8C"/>
                </a:solidFill>
                <a:latin typeface="Calibri"/>
              </a:rPr>
              <a:t>SubSense  |  Review 1 &amp; 2 (MERN Stack Project)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57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71323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 Development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097280" y="1371600"/>
            <a:ext cx="10607040" cy="0"/>
          </a:xfrm>
          <a:prstGeom prst="line">
            <a:avLst/>
          </a:prstGeom>
          <a:noFill/>
          <a:ln w="12700">
            <a:solidFill>
              <a:srgbClr val="D7E7E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97280" y="1691640"/>
            <a:ext cx="987552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b="0" i="0" dirty="0">
                <a:solidFill>
                  <a:srgbClr val="1B2A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Node.js &amp; Express.js RESTful API structured cleanly using the Model-View-Controller (MVC) pattern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400"/>
              </a:spcAft>
            </a:pPr>
            <a:r>
              <a:rPr b="0" i="0" dirty="0">
                <a:solidFill>
                  <a:srgbClr val="1B2A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Stateless authentication pipeline with JWT tokens and </a:t>
            </a:r>
            <a:r>
              <a:rPr b="0" i="0" dirty="0" err="1">
                <a:solidFill>
                  <a:srgbClr val="1B2A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BCrypt</a:t>
            </a:r>
            <a:r>
              <a:rPr b="0" i="0" dirty="0">
                <a:solidFill>
                  <a:srgbClr val="1B2A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password encryption (10 salt rounds)</a:t>
            </a:r>
          </a:p>
          <a:p>
            <a:pPr>
              <a:spcAft>
                <a:spcPts val="400"/>
              </a:spcAft>
            </a:pPr>
            <a:r>
              <a:rPr b="0" i="0" dirty="0">
                <a:solidFill>
                  <a:srgbClr val="1B2A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Custom middleware architecture: protect for JWT route verification and </a:t>
            </a:r>
            <a:r>
              <a:rPr b="0" i="0" dirty="0" err="1">
                <a:solidFill>
                  <a:srgbClr val="1B2A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validateSubscription</a:t>
            </a:r>
            <a:r>
              <a:rPr b="0" i="0" dirty="0">
                <a:solidFill>
                  <a:srgbClr val="1B2A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for payload checks</a:t>
            </a:r>
          </a:p>
          <a:p>
            <a:pPr>
              <a:spcAft>
                <a:spcPts val="400"/>
              </a:spcAft>
            </a:pPr>
            <a:r>
              <a:rPr b="0" i="0" dirty="0">
                <a:solidFill>
                  <a:srgbClr val="1B2A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Strict input validation enforcing category </a:t>
            </a:r>
            <a:r>
              <a:rPr b="0" i="0" dirty="0" err="1">
                <a:solidFill>
                  <a:srgbClr val="1B2A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enums</a:t>
            </a:r>
            <a:r>
              <a:rPr b="0" i="0" dirty="0">
                <a:solidFill>
                  <a:srgbClr val="1B2A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billing cycle </a:t>
            </a:r>
            <a:r>
              <a:rPr b="0" i="0" dirty="0" err="1">
                <a:solidFill>
                  <a:srgbClr val="1B2A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enums</a:t>
            </a:r>
            <a:r>
              <a:rPr b="0" i="0" dirty="0">
                <a:solidFill>
                  <a:srgbClr val="1B2A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positive prices, and ISO dates</a:t>
            </a:r>
          </a:p>
          <a:p>
            <a:pPr>
              <a:spcAft>
                <a:spcPts val="400"/>
              </a:spcAft>
            </a:pPr>
            <a:r>
              <a:rPr b="0" i="0" dirty="0">
                <a:solidFill>
                  <a:srgbClr val="1B2A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Centralized error handling returning structured JSON status codes and developer-friendly messages</a:t>
            </a:r>
          </a:p>
          <a:p>
            <a:pPr>
              <a:spcAft>
                <a:spcPts val="400"/>
              </a:spcAft>
            </a:pPr>
            <a:r>
              <a:rPr b="0" i="0" dirty="0">
                <a:solidFill>
                  <a:srgbClr val="1B2A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Multi-environment configuration powered by </a:t>
            </a:r>
            <a:r>
              <a:rPr b="0" i="0" dirty="0" err="1">
                <a:solidFill>
                  <a:srgbClr val="1B2A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dotenv</a:t>
            </a:r>
            <a:r>
              <a:rPr b="0" i="0" dirty="0">
                <a:solidFill>
                  <a:srgbClr val="1B2A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for development and production portability</a:t>
            </a:r>
          </a:p>
          <a:p>
            <a:pPr>
              <a:spcAft>
                <a:spcPts val="400"/>
              </a:spcAft>
            </a:pPr>
            <a:r>
              <a:rPr b="0" i="0" dirty="0">
                <a:solidFill>
                  <a:srgbClr val="1B2A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Automated integration test suites built with Jest and </a:t>
            </a:r>
            <a:r>
              <a:rPr b="0" i="0" dirty="0" err="1">
                <a:solidFill>
                  <a:srgbClr val="1B2A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Supertest</a:t>
            </a:r>
            <a:r>
              <a:rPr b="0" i="0" dirty="0">
                <a:solidFill>
                  <a:srgbClr val="1B2A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(auth-flow.test.js, subscriptions.test.js)</a:t>
            </a:r>
          </a:p>
        </p:txBody>
      </p:sp>
      <p:sp>
        <p:nvSpPr>
          <p:cNvPr id="8" name="Shape 6"/>
          <p:cNvSpPr/>
          <p:nvPr/>
        </p:nvSpPr>
        <p:spPr>
          <a:xfrm>
            <a:off x="1097280" y="5623560"/>
            <a:ext cx="9966960" cy="594360"/>
          </a:xfrm>
          <a:prstGeom prst="roundRect">
            <a:avLst>
              <a:gd name="adj" fmla="val 12308"/>
            </a:avLst>
          </a:prstGeom>
          <a:solidFill>
            <a:srgbClr val="F4FAF9"/>
          </a:solidFill>
          <a:ln w="12700">
            <a:solidFill>
              <a:srgbClr val="D7E7E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325880" y="5623560"/>
            <a:ext cx="9509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sz="1050" b="1" i="0">
                <a:solidFill>
                  <a:srgbClr val="028090"/>
                </a:solidFill>
                <a:latin typeface="Calibri"/>
              </a:rPr>
              <a:t>Security &amp; Middleware Stack: auth.protect (JWT token extraction &amp; verification), validateSubscription.js (schema sanitization), and automated Jest API tests.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6245352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sz="1000" b="0" i="0">
                <a:solidFill>
                  <a:srgbClr val="7A8F8C"/>
                </a:solidFill>
                <a:latin typeface="Calibri"/>
              </a:rPr>
              <a:t>SubSense  |  Review 1 &amp; 2 (MERN Stack Project)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57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71323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 Integration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097280" y="1371600"/>
            <a:ext cx="10607040" cy="0"/>
          </a:xfrm>
          <a:prstGeom prst="line">
            <a:avLst/>
          </a:prstGeom>
          <a:noFill/>
          <a:ln w="12700">
            <a:solidFill>
              <a:srgbClr val="D7E7E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143000" y="914400"/>
            <a:ext cx="987552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sz="1600" b="0" i="0" dirty="0">
                <a:solidFill>
                  <a:srgbClr val="1B2A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MongoDB Atlas cloud cluster configured with Mongoose ODM connection pooling and auto-reconnect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400"/>
              </a:spcAft>
            </a:pPr>
            <a:r>
              <a:rPr sz="1600" b="0" i="0" dirty="0">
                <a:solidFill>
                  <a:srgbClr val="1B2A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Normalized document schemas: User and Subscription models with strict type definitions</a:t>
            </a:r>
          </a:p>
          <a:p>
            <a:pPr>
              <a:spcAft>
                <a:spcPts val="400"/>
              </a:spcAft>
            </a:pPr>
            <a:r>
              <a:rPr sz="1600" b="0" i="0" dirty="0">
                <a:solidFill>
                  <a:srgbClr val="1B2A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Relational modeling using Mongoose </a:t>
            </a:r>
            <a:r>
              <a:rPr sz="1600" b="0" i="0" dirty="0" err="1">
                <a:solidFill>
                  <a:srgbClr val="1B2A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ObjectId</a:t>
            </a:r>
            <a:r>
              <a:rPr sz="1600" b="0" i="0" dirty="0">
                <a:solidFill>
                  <a:srgbClr val="1B2A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referencing (</a:t>
            </a:r>
            <a:r>
              <a:rPr sz="1600" b="0" i="0" dirty="0" err="1">
                <a:solidFill>
                  <a:srgbClr val="1B2A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userId</a:t>
            </a:r>
            <a:r>
              <a:rPr sz="1600" b="0" i="0" dirty="0">
                <a:solidFill>
                  <a:srgbClr val="1B2A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sz="1600" b="0" i="0" dirty="0" err="1">
                <a:solidFill>
                  <a:srgbClr val="1B2A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Schema.Types.ObjectId</a:t>
            </a:r>
            <a:r>
              <a:rPr sz="1600" b="0" i="0" dirty="0">
                <a:solidFill>
                  <a:srgbClr val="1B2A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-&gt; User)</a:t>
            </a:r>
          </a:p>
          <a:p>
            <a:pPr>
              <a:spcAft>
                <a:spcPts val="400"/>
              </a:spcAft>
            </a:pPr>
            <a:r>
              <a:rPr sz="1600" b="0" i="0" dirty="0">
                <a:solidFill>
                  <a:srgbClr val="1B2A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Compound indexing on { </a:t>
            </a:r>
            <a:r>
              <a:rPr sz="1600" b="0" i="0" dirty="0" err="1">
                <a:solidFill>
                  <a:srgbClr val="1B2A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userId</a:t>
            </a:r>
            <a:r>
              <a:rPr sz="1600" b="0" i="0" dirty="0">
                <a:solidFill>
                  <a:srgbClr val="1B2A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1, </a:t>
            </a:r>
            <a:r>
              <a:rPr sz="1600" b="0" i="0" dirty="0" err="1">
                <a:solidFill>
                  <a:srgbClr val="1B2A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createdAt</a:t>
            </a:r>
            <a:r>
              <a:rPr sz="1600" b="0" i="0" dirty="0">
                <a:solidFill>
                  <a:srgbClr val="1B2A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-1 } ensuring sub-millisecond user query performance</a:t>
            </a:r>
          </a:p>
          <a:p>
            <a:pPr>
              <a:spcAft>
                <a:spcPts val="400"/>
              </a:spcAft>
            </a:pPr>
            <a:r>
              <a:rPr sz="1600" b="0" i="0" dirty="0">
                <a:solidFill>
                  <a:srgbClr val="1B2A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Unique index on </a:t>
            </a:r>
            <a:r>
              <a:rPr sz="1600" b="0" i="0" dirty="0" err="1">
                <a:solidFill>
                  <a:srgbClr val="1B2A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users.email</a:t>
            </a:r>
            <a:r>
              <a:rPr sz="1600" b="0" i="0" dirty="0">
                <a:solidFill>
                  <a:srgbClr val="1B2A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preventing duplicate account creation at the database engine level</a:t>
            </a:r>
          </a:p>
          <a:p>
            <a:pPr>
              <a:spcAft>
                <a:spcPts val="400"/>
              </a:spcAft>
            </a:pPr>
            <a:r>
              <a:rPr sz="1600" b="0" i="0" dirty="0">
                <a:solidFill>
                  <a:srgbClr val="1B2A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Built-in Mongoose schema validators for categories, billing cycles, and subscription statuses</a:t>
            </a:r>
          </a:p>
          <a:p>
            <a:pPr>
              <a:spcAft>
                <a:spcPts val="400"/>
              </a:spcAft>
            </a:pPr>
            <a:r>
              <a:rPr sz="1600" b="0" i="0" dirty="0">
                <a:solidFill>
                  <a:srgbClr val="1B2A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Clean separation of database connection logic in config/db.js with structured connection logging</a:t>
            </a:r>
          </a:p>
        </p:txBody>
      </p:sp>
      <p:sp>
        <p:nvSpPr>
          <p:cNvPr id="8" name="Shape 6"/>
          <p:cNvSpPr/>
          <p:nvPr/>
        </p:nvSpPr>
        <p:spPr>
          <a:xfrm>
            <a:off x="1097280" y="5623560"/>
            <a:ext cx="9966960" cy="594360"/>
          </a:xfrm>
          <a:prstGeom prst="roundRect">
            <a:avLst>
              <a:gd name="adj" fmla="val 12308"/>
            </a:avLst>
          </a:prstGeom>
          <a:solidFill>
            <a:srgbClr val="F4FAF9"/>
          </a:solidFill>
          <a:ln w="12700">
            <a:solidFill>
              <a:srgbClr val="D7E7E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325880" y="5623560"/>
            <a:ext cx="9509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sz="1050" b="1" i="0">
                <a:solidFill>
                  <a:srgbClr val="028090"/>
                </a:solidFill>
                <a:latin typeface="Calibri"/>
              </a:rPr>
              <a:t>Active Collections: 'users' (identity, hashed credentials, timestamps) and 'subscriptions' (service metadata, price, billing cycle, renewal date, status, notes).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6245352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sz="1000" b="0" i="0">
                <a:solidFill>
                  <a:srgbClr val="7A8F8C"/>
                </a:solidFill>
                <a:latin typeface="Calibri"/>
              </a:rPr>
              <a:t>SubSense  |  Review 1 &amp; 2 (MERN Stack Project)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57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71323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 Development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097280" y="1371600"/>
            <a:ext cx="10607040" cy="0"/>
          </a:xfrm>
          <a:prstGeom prst="line">
            <a:avLst/>
          </a:prstGeom>
          <a:noFill/>
          <a:ln w="12700">
            <a:solidFill>
              <a:srgbClr val="D7E7E5"/>
            </a:solidFill>
            <a:prstDash val="solid"/>
          </a:ln>
        </p:spPr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7387421"/>
              </p:ext>
            </p:extLst>
          </p:nvPr>
        </p:nvGraphicFramePr>
        <p:xfrm>
          <a:off x="1097280" y="1691639"/>
          <a:ext cx="9966960" cy="4027667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49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75381"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FFFFFF"/>
                          </a:solidFill>
                          <a:latin typeface="Calibri"/>
                        </a:rPr>
                        <a:t>Method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FFFFFF"/>
                          </a:solidFill>
                          <a:latin typeface="Calibri"/>
                        </a:rPr>
                        <a:t>Endpoint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FFFFFF"/>
                          </a:solidFill>
                          <a:latin typeface="Calibri"/>
                        </a:rPr>
                        <a:t>Description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5381"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1B2A2E"/>
                          </a:solidFill>
                          <a:latin typeface="Calibri"/>
                        </a:rPr>
                        <a:t>POST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1B2A2E"/>
                          </a:solidFill>
                          <a:latin typeface="Calibri"/>
                        </a:rPr>
                        <a:t>/api/auth/register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1B2A2E"/>
                          </a:solidFill>
                          <a:latin typeface="Calibri"/>
                        </a:rPr>
                        <a:t>Register a new user account with hashed password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5381"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1B2A2E"/>
                          </a:solidFill>
                          <a:latin typeface="Calibri"/>
                        </a:rPr>
                        <a:t>POST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1B2A2E"/>
                          </a:solidFill>
                          <a:latin typeface="Calibri"/>
                        </a:rPr>
                        <a:t>/api/auth/login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1B2A2E"/>
                          </a:solidFill>
                          <a:latin typeface="Calibri"/>
                        </a:rPr>
                        <a:t>Authenticate user credentials &amp; issue 7-day JWT token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5381"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1B2A2E"/>
                          </a:solidFill>
                          <a:latin typeface="Calibri"/>
                        </a:rPr>
                        <a:t>GET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1B2A2E"/>
                          </a:solidFill>
                          <a:latin typeface="Calibri"/>
                        </a:rPr>
                        <a:t>/api/auth/me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1B2A2E"/>
                          </a:solidFill>
                          <a:latin typeface="Calibri"/>
                        </a:rPr>
                        <a:t>Retrieve current authenticated user profile via JWT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5381"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1B2A2E"/>
                          </a:solidFill>
                          <a:latin typeface="Calibri"/>
                        </a:rPr>
                        <a:t>GET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dirty="0">
                          <a:solidFill>
                            <a:srgbClr val="1B2A2E"/>
                          </a:solidFill>
                          <a:latin typeface="Calibri"/>
                        </a:rPr>
                        <a:t>/</a:t>
                      </a:r>
                      <a:r>
                        <a:rPr sz="1050" b="0" i="0" dirty="0" err="1">
                          <a:solidFill>
                            <a:srgbClr val="1B2A2E"/>
                          </a:solidFill>
                          <a:latin typeface="Calibri"/>
                        </a:rPr>
                        <a:t>api</a:t>
                      </a:r>
                      <a:r>
                        <a:rPr sz="1050" b="0" i="0" dirty="0">
                          <a:solidFill>
                            <a:srgbClr val="1B2A2E"/>
                          </a:solidFill>
                          <a:latin typeface="Calibri"/>
                        </a:rPr>
                        <a:t>/subscriptions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1B2A2E"/>
                          </a:solidFill>
                          <a:latin typeface="Calibri"/>
                        </a:rPr>
                        <a:t>Fetch all subscriptions belonging to authenticated user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5381"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1B2A2E"/>
                          </a:solidFill>
                          <a:latin typeface="Calibri"/>
                        </a:rPr>
                        <a:t>POST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1B2A2E"/>
                          </a:solidFill>
                          <a:latin typeface="Calibri"/>
                        </a:rPr>
                        <a:t>/api/subscriptions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1B2A2E"/>
                          </a:solidFill>
                          <a:latin typeface="Calibri"/>
                        </a:rPr>
                        <a:t>Create a new subscription record with schema validation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75381"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1B2A2E"/>
                          </a:solidFill>
                          <a:latin typeface="Calibri"/>
                        </a:rPr>
                        <a:t>PUT / DEL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1B2A2E"/>
                          </a:solidFill>
                          <a:latin typeface="Calibri"/>
                        </a:rPr>
                        <a:t>/api/subscriptions/:id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dirty="0">
                          <a:solidFill>
                            <a:srgbClr val="1B2A2E"/>
                          </a:solidFill>
                          <a:latin typeface="Calibri"/>
                        </a:rPr>
                        <a:t>Update subscription details / delete subscription by ID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Text 5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6245352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sz="1000" b="0" i="0">
                <a:solidFill>
                  <a:srgbClr val="7A8F8C"/>
                </a:solidFill>
                <a:latin typeface="Calibri"/>
              </a:rPr>
              <a:t>SubSense  |  Review 1 &amp; 2 (MERN Stack Project)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57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71323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Module-wise Implementation Status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097280" y="1371600"/>
            <a:ext cx="10607040" cy="0"/>
          </a:xfrm>
          <a:prstGeom prst="line">
            <a:avLst/>
          </a:prstGeom>
          <a:noFill/>
          <a:ln w="12700">
            <a:solidFill>
              <a:srgbClr val="D7E7E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97280" y="182880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sz="1300" b="1" i="0">
                <a:solidFill>
                  <a:srgbClr val="1B2A2E"/>
                </a:solidFill>
                <a:latin typeface="Calibri"/>
              </a:rPr>
              <a:t>User Authentication &amp; JWT Pipeline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0" y="1883664"/>
            <a:ext cx="5486400" cy="274320"/>
          </a:xfrm>
          <a:prstGeom prst="roundRect">
            <a:avLst>
              <a:gd name="adj" fmla="val 20000"/>
            </a:avLst>
          </a:prstGeom>
          <a:solidFill>
            <a:srgbClr val="F4FAF9"/>
          </a:solidFill>
          <a:ln w="9525">
            <a:solidFill>
              <a:srgbClr val="D7E7E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0" y="1883664"/>
            <a:ext cx="5486400" cy="274320"/>
          </a:xfrm>
          <a:prstGeom prst="roundRect">
            <a:avLst>
              <a:gd name="adj" fmla="val 20000"/>
            </a:avLst>
          </a:prstGeom>
          <a:solidFill>
            <a:srgbClr val="02C39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149840" y="1828800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sz="1300" b="1" i="0">
                <a:solidFill>
                  <a:srgbClr val="028090"/>
                </a:solidFill>
                <a:latin typeface="Calibri"/>
              </a:rPr>
              <a:t>100%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1097280" y="2450592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sz="1300" b="1" i="0">
                <a:solidFill>
                  <a:srgbClr val="1B2A2E"/>
                </a:solidFill>
                <a:latin typeface="Calibri"/>
              </a:rPr>
              <a:t>Frontend UI (Core Dashboard &amp; Views)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0" y="2505456"/>
            <a:ext cx="5486400" cy="274320"/>
          </a:xfrm>
          <a:prstGeom prst="roundRect">
            <a:avLst>
              <a:gd name="adj" fmla="val 20000"/>
            </a:avLst>
          </a:prstGeom>
          <a:solidFill>
            <a:srgbClr val="F4FAF9"/>
          </a:solidFill>
          <a:ln w="9525">
            <a:solidFill>
              <a:srgbClr val="D7E7E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0" y="2505456"/>
            <a:ext cx="5212080" cy="274320"/>
          </a:xfrm>
          <a:prstGeom prst="roundRect">
            <a:avLst>
              <a:gd name="adj" fmla="val 20000"/>
            </a:avLst>
          </a:prstGeom>
          <a:solidFill>
            <a:srgbClr val="02C39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0149840" y="2450592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sz="1300" b="1" i="0">
                <a:solidFill>
                  <a:srgbClr val="028090"/>
                </a:solidFill>
                <a:latin typeface="Calibri"/>
              </a:rPr>
              <a:t>95%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1097280" y="3072384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sz="1300" b="1" i="0">
                <a:solidFill>
                  <a:srgbClr val="1B2A2E"/>
                </a:solidFill>
                <a:latin typeface="Calibri"/>
              </a:rPr>
              <a:t>Backend REST APIs &amp; Controllers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0" y="3127248"/>
            <a:ext cx="5486400" cy="274320"/>
          </a:xfrm>
          <a:prstGeom prst="roundRect">
            <a:avLst>
              <a:gd name="adj" fmla="val 20000"/>
            </a:avLst>
          </a:prstGeom>
          <a:solidFill>
            <a:srgbClr val="F4FAF9"/>
          </a:solidFill>
          <a:ln w="9525">
            <a:solidFill>
              <a:srgbClr val="D7E7E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0" y="3127248"/>
            <a:ext cx="5212080" cy="274320"/>
          </a:xfrm>
          <a:prstGeom prst="roundRect">
            <a:avLst>
              <a:gd name="adj" fmla="val 20000"/>
            </a:avLst>
          </a:prstGeom>
          <a:solidFill>
            <a:srgbClr val="02C39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10149840" y="3072384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sz="1300" b="1" i="0">
                <a:solidFill>
                  <a:srgbClr val="028090"/>
                </a:solidFill>
                <a:latin typeface="Calibri"/>
              </a:rPr>
              <a:t>95%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1097280" y="3694176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sz="1300" b="1" i="0">
                <a:solidFill>
                  <a:srgbClr val="1B2A2E"/>
                </a:solidFill>
                <a:latin typeface="Calibri"/>
              </a:rPr>
              <a:t>Database Integration &amp; Mongoose Schemas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0" y="3749040"/>
            <a:ext cx="5486400" cy="274320"/>
          </a:xfrm>
          <a:prstGeom prst="roundRect">
            <a:avLst>
              <a:gd name="adj" fmla="val 20000"/>
            </a:avLst>
          </a:prstGeom>
          <a:solidFill>
            <a:srgbClr val="F4FAF9"/>
          </a:solidFill>
          <a:ln w="9525">
            <a:solidFill>
              <a:srgbClr val="D7E7E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0" y="3749040"/>
            <a:ext cx="5212080" cy="274320"/>
          </a:xfrm>
          <a:prstGeom prst="roundRect">
            <a:avLst>
              <a:gd name="adj" fmla="val 20000"/>
            </a:avLst>
          </a:prstGeom>
          <a:solidFill>
            <a:srgbClr val="02C39A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10149840" y="3694176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sz="1300" b="1" i="0">
                <a:solidFill>
                  <a:srgbClr val="028090"/>
                </a:solidFill>
                <a:latin typeface="Calibri"/>
              </a:rPr>
              <a:t>95%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1097280" y="4315968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sz="1300" b="1" i="0">
                <a:solidFill>
                  <a:srgbClr val="1B2A2E"/>
                </a:solidFill>
                <a:latin typeface="Calibri"/>
              </a:rPr>
              <a:t>Spend Analytics &amp; Recharts Data Visualization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572000" y="4370832"/>
            <a:ext cx="5486400" cy="274320"/>
          </a:xfrm>
          <a:prstGeom prst="roundRect">
            <a:avLst>
              <a:gd name="adj" fmla="val 20000"/>
            </a:avLst>
          </a:prstGeom>
          <a:solidFill>
            <a:srgbClr val="F4FAF9"/>
          </a:solidFill>
          <a:ln w="9525">
            <a:solidFill>
              <a:srgbClr val="D7E7E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0" y="4370832"/>
            <a:ext cx="4937760" cy="274320"/>
          </a:xfrm>
          <a:prstGeom prst="roundRect">
            <a:avLst>
              <a:gd name="adj" fmla="val 20000"/>
            </a:avLst>
          </a:prstGeom>
          <a:solidFill>
            <a:srgbClr val="00A896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10149840" y="4315968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sz="1300" b="1" i="0">
                <a:solidFill>
                  <a:srgbClr val="028090"/>
                </a:solidFill>
                <a:latin typeface="Calibri"/>
              </a:rPr>
              <a:t>90%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1097280" y="493776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sz="1300" b="1" i="0">
                <a:solidFill>
                  <a:srgbClr val="1B2A2E"/>
                </a:solidFill>
                <a:latin typeface="Calibri"/>
              </a:rPr>
              <a:t>Renewal Reminders &amp; Budget Thresholds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572000" y="4992624"/>
            <a:ext cx="5486400" cy="274320"/>
          </a:xfrm>
          <a:prstGeom prst="roundRect">
            <a:avLst>
              <a:gd name="adj" fmla="val 20000"/>
            </a:avLst>
          </a:prstGeom>
          <a:solidFill>
            <a:srgbClr val="F4FAF9"/>
          </a:solidFill>
          <a:ln w="9525">
            <a:solidFill>
              <a:srgbClr val="D7E7E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572000" y="4992624"/>
            <a:ext cx="4389120" cy="274320"/>
          </a:xfrm>
          <a:prstGeom prst="roundRect">
            <a:avLst>
              <a:gd name="adj" fmla="val 20000"/>
            </a:avLst>
          </a:prstGeom>
          <a:solidFill>
            <a:srgbClr val="00A896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10149840" y="4937760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sz="1300" b="1" i="0">
                <a:solidFill>
                  <a:srgbClr val="028090"/>
                </a:solidFill>
                <a:latin typeface="Calibri"/>
              </a:rPr>
              <a:t>80%</a:t>
            </a:r>
            <a:endParaRPr lang="en-US" sz="1250" dirty="0"/>
          </a:p>
        </p:txBody>
      </p:sp>
      <p:sp>
        <p:nvSpPr>
          <p:cNvPr id="31" name="Text 29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6245352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sz="1000" b="0" i="0">
                <a:solidFill>
                  <a:srgbClr val="7A8F8C"/>
                </a:solidFill>
                <a:latin typeface="Calibri"/>
              </a:rPr>
              <a:t>SubSense  |  Review 1 &amp; 2 (MERN Stack Project)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57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71323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Screenshots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097280" y="1371600"/>
            <a:ext cx="10607040" cy="0"/>
          </a:xfrm>
          <a:prstGeom prst="line">
            <a:avLst/>
          </a:prstGeom>
          <a:noFill/>
          <a:ln w="12700">
            <a:solidFill>
              <a:srgbClr val="D7E7E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97280" y="1737360"/>
            <a:ext cx="4846320" cy="1783080"/>
          </a:xfrm>
          <a:prstGeom prst="roundRect">
            <a:avLst>
              <a:gd name="adj" fmla="val 4103"/>
            </a:avLst>
          </a:prstGeom>
          <a:solidFill>
            <a:srgbClr val="F4FAF9"/>
          </a:solidFill>
          <a:ln w="15875">
            <a:solidFill>
              <a:srgbClr val="00A896"/>
            </a:solidFill>
            <a:prstDash val="dash"/>
          </a:ln>
        </p:spPr>
      </p:sp>
      <p:sp>
        <p:nvSpPr>
          <p:cNvPr id="8" name="Text 6"/>
          <p:cNvSpPr txBox="1"/>
          <p:nvPr/>
        </p:nvSpPr>
        <p:spPr>
          <a:xfrm>
            <a:off x="1097280" y="1737360"/>
            <a:ext cx="48463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17920" y="1737360"/>
            <a:ext cx="4846320" cy="1783080"/>
          </a:xfrm>
          <a:prstGeom prst="roundRect">
            <a:avLst>
              <a:gd name="adj" fmla="val 4103"/>
            </a:avLst>
          </a:prstGeom>
          <a:solidFill>
            <a:srgbClr val="F4FAF9"/>
          </a:solidFill>
          <a:ln w="15875">
            <a:solidFill>
              <a:srgbClr val="00A896"/>
            </a:solidFill>
            <a:prstDash val="dash"/>
          </a:ln>
        </p:spPr>
      </p:sp>
      <p:sp>
        <p:nvSpPr>
          <p:cNvPr id="10" name="Text 8"/>
          <p:cNvSpPr txBox="1"/>
          <p:nvPr/>
        </p:nvSpPr>
        <p:spPr>
          <a:xfrm>
            <a:off x="6217920" y="1737360"/>
            <a:ext cx="48463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97280" y="3794760"/>
            <a:ext cx="4846320" cy="1783080"/>
          </a:xfrm>
          <a:prstGeom prst="roundRect">
            <a:avLst>
              <a:gd name="adj" fmla="val 4103"/>
            </a:avLst>
          </a:prstGeom>
          <a:solidFill>
            <a:srgbClr val="F4FAF9"/>
          </a:solidFill>
          <a:ln w="15875">
            <a:solidFill>
              <a:srgbClr val="00A896"/>
            </a:solidFill>
            <a:prstDash val="dash"/>
          </a:ln>
        </p:spPr>
      </p:sp>
      <p:sp>
        <p:nvSpPr>
          <p:cNvPr id="12" name="Text 10"/>
          <p:cNvSpPr txBox="1"/>
          <p:nvPr/>
        </p:nvSpPr>
        <p:spPr>
          <a:xfrm>
            <a:off x="1097280" y="3794760"/>
            <a:ext cx="48463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217920" y="3794760"/>
            <a:ext cx="4846320" cy="1783080"/>
          </a:xfrm>
          <a:prstGeom prst="roundRect">
            <a:avLst>
              <a:gd name="adj" fmla="val 4103"/>
            </a:avLst>
          </a:prstGeom>
          <a:solidFill>
            <a:srgbClr val="F4FAF9"/>
          </a:solidFill>
          <a:ln w="15875">
            <a:solidFill>
              <a:srgbClr val="00A896"/>
            </a:solidFill>
            <a:prstDash val="dash"/>
          </a:ln>
        </p:spPr>
      </p:sp>
      <p:sp>
        <p:nvSpPr>
          <p:cNvPr id="14" name="Text 12"/>
          <p:cNvSpPr txBox="1"/>
          <p:nvPr/>
        </p:nvSpPr>
        <p:spPr>
          <a:xfrm>
            <a:off x="6217920" y="3794760"/>
            <a:ext cx="48463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Screenshots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6245352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sz="1000" b="0" i="0">
                <a:solidFill>
                  <a:srgbClr val="7A8F8C"/>
                </a:solidFill>
                <a:latin typeface="Calibri"/>
              </a:rPr>
              <a:t>SubSense  |  Review 1 &amp; 2 (MERN Stack Project)</a:t>
            </a:r>
            <a:endParaRPr lang="en-US" sz="1000" dirty="0"/>
          </a:p>
        </p:txBody>
      </p:sp>
      <p:pic>
        <p:nvPicPr>
          <p:cNvPr id="17" name="Picture 16" descr="screenshot_log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1737360"/>
            <a:ext cx="4846320" cy="1783080"/>
          </a:xfrm>
          <a:prstGeom prst="rect">
            <a:avLst/>
          </a:prstGeom>
        </p:spPr>
      </p:pic>
      <p:pic>
        <p:nvPicPr>
          <p:cNvPr id="18" name="Picture 17" descr="screenshot_dashboar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0" y="1737360"/>
            <a:ext cx="4846320" cy="1783080"/>
          </a:xfrm>
          <a:prstGeom prst="rect">
            <a:avLst/>
          </a:prstGeom>
        </p:spPr>
      </p:pic>
      <p:pic>
        <p:nvPicPr>
          <p:cNvPr id="19" name="Picture 18" descr="screenshot_subscription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7280" y="3794760"/>
            <a:ext cx="4846320" cy="1783080"/>
          </a:xfrm>
          <a:prstGeom prst="rect">
            <a:avLst/>
          </a:prstGeom>
        </p:spPr>
      </p:pic>
      <p:pic>
        <p:nvPicPr>
          <p:cNvPr id="20" name="Picture 19" descr="screenshot_analytic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7920" y="3794760"/>
            <a:ext cx="4846320" cy="178308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097280" y="1517904"/>
            <a:ext cx="3200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 i="0">
                <a:solidFill>
                  <a:srgbClr val="028090"/>
                </a:solidFill>
                <a:latin typeface="Calibri"/>
              </a:rPr>
              <a:t>1. Authentication &amp; JWT Login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1517904"/>
            <a:ext cx="3200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 i="0">
                <a:solidFill>
                  <a:srgbClr val="028090"/>
                </a:solidFill>
                <a:latin typeface="Calibri"/>
              </a:rPr>
              <a:t>2. Executive Overview Dashboard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3575304"/>
            <a:ext cx="3200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 i="0">
                <a:solidFill>
                  <a:srgbClr val="028090"/>
                </a:solidFill>
                <a:latin typeface="Calibri"/>
              </a:rPr>
              <a:t>3. Subscriptions Lifecycle &amp; CRUD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0" y="3575304"/>
            <a:ext cx="3200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 i="0">
                <a:solidFill>
                  <a:srgbClr val="028090"/>
                </a:solidFill>
                <a:latin typeface="Calibri"/>
              </a:rPr>
              <a:t>4. Spend Analytics &amp; Smart Insights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57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71323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 Faced &amp; Solutions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097280" y="1371600"/>
            <a:ext cx="10607040" cy="0"/>
          </a:xfrm>
          <a:prstGeom prst="line">
            <a:avLst/>
          </a:prstGeom>
          <a:noFill/>
          <a:ln w="12700">
            <a:solidFill>
              <a:srgbClr val="D7E7E5"/>
            </a:solidFill>
            <a:prstDash val="solid"/>
          </a:ln>
        </p:spPr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5351286"/>
              </p:ext>
            </p:extLst>
          </p:nvPr>
        </p:nvGraphicFramePr>
        <p:xfrm>
          <a:off x="1097280" y="1691638"/>
          <a:ext cx="9966960" cy="3665355"/>
        </p:xfrm>
        <a:graphic>
          <a:graphicData uri="http://schemas.openxmlformats.org/drawingml/2006/table">
            <a:tbl>
              <a:tblPr/>
              <a:tblGrid>
                <a:gridCol w="457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94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33071"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FFFFFF"/>
                          </a:solidFill>
                          <a:latin typeface="Calibri"/>
                        </a:rPr>
                        <a:t>Challenge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FFFFFF"/>
                          </a:solidFill>
                          <a:latin typeface="Calibri"/>
                        </a:rPr>
                        <a:t>Solution Adopted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3071">
                <a:tc>
                  <a:txBody>
                    <a:bodyPr/>
                    <a:lstStyle/>
                    <a:p>
                      <a:pPr algn="l"/>
                      <a:r>
                        <a:rPr sz="1050" b="0" i="0" dirty="0">
                          <a:solidFill>
                            <a:srgbClr val="1B2A2E"/>
                          </a:solidFill>
                          <a:latin typeface="Calibri"/>
                        </a:rPr>
                        <a:t>Heterogeneous Billing Cycle Normalization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1B2A2E"/>
                          </a:solidFill>
                          <a:latin typeface="Calibri"/>
                        </a:rPr>
                        <a:t>Engineered conversion algorithms normalizing Weekly, Monthly, Quarterly, and Yearly rates to monthly equivalents for unified analytics.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3071"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1B2A2E"/>
                          </a:solidFill>
                          <a:latin typeface="Calibri"/>
                        </a:rPr>
                        <a:t>Stateless Session &amp; Route Protection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1B2A2E"/>
                          </a:solidFill>
                          <a:latin typeface="Calibri"/>
                        </a:rPr>
                        <a:t>Implemented JWT Bearer token authentication with Express middleware and React Context API to retain auth state across page reloads.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3071"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1B2A2E"/>
                          </a:solidFill>
                          <a:latin typeface="Calibri"/>
                        </a:rPr>
                        <a:t>Real-time Recharts Synchronization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1B2A2E"/>
                          </a:solidFill>
                          <a:latin typeface="Calibri"/>
                        </a:rPr>
                        <a:t>Centralized API queries and state updates so subscription mutations (Add/Edit/Delete) instantly re-render AreaChart and PieChart without refresh.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3071"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1B2A2E"/>
                          </a:solidFill>
                          <a:latin typeface="Calibri"/>
                        </a:rPr>
                        <a:t>Strict Multi-field Input Validation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 dirty="0">
                          <a:solidFill>
                            <a:srgbClr val="1B2A2E"/>
                          </a:solidFill>
                          <a:latin typeface="Calibri"/>
                        </a:rPr>
                        <a:t>Created dual-layer validation via Express middleware and Mongoose schema </a:t>
                      </a:r>
                      <a:r>
                        <a:rPr sz="1050" b="0" i="0" dirty="0" err="1">
                          <a:solidFill>
                            <a:srgbClr val="1B2A2E"/>
                          </a:solidFill>
                          <a:latin typeface="Calibri"/>
                        </a:rPr>
                        <a:t>enums</a:t>
                      </a:r>
                      <a:r>
                        <a:rPr sz="1050" b="0" i="0" dirty="0">
                          <a:solidFill>
                            <a:srgbClr val="1B2A2E"/>
                          </a:solidFill>
                          <a:latin typeface="Calibri"/>
                        </a:rPr>
                        <a:t> to reject invalid dates, negative prices, and bad </a:t>
                      </a:r>
                      <a:r>
                        <a:rPr sz="1050" b="0" i="0" dirty="0" err="1">
                          <a:solidFill>
                            <a:srgbClr val="1B2A2E"/>
                          </a:solidFill>
                          <a:latin typeface="Calibri"/>
                        </a:rPr>
                        <a:t>enums</a:t>
                      </a:r>
                      <a:r>
                        <a:rPr sz="1050" b="0" i="0" dirty="0">
                          <a:solidFill>
                            <a:srgbClr val="1B2A2E"/>
                          </a:solidFill>
                          <a:latin typeface="Calibri"/>
                        </a:rPr>
                        <a:t>.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Text 5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6245352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sz="1000" b="0" i="0">
                <a:solidFill>
                  <a:srgbClr val="7A8F8C"/>
                </a:solidFill>
                <a:latin typeface="Calibri"/>
              </a:rPr>
              <a:t>SubSense  |  Review 1 &amp; 2 (MERN Stack Project)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57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71323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Remaining Work &amp; Plan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097280" y="1371600"/>
            <a:ext cx="10607040" cy="0"/>
          </a:xfrm>
          <a:prstGeom prst="line">
            <a:avLst/>
          </a:prstGeom>
          <a:noFill/>
          <a:ln w="12700">
            <a:solidFill>
              <a:srgbClr val="D7E7E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97280" y="1691640"/>
            <a:ext cx="987552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sz="1600" b="0" i="0" dirty="0">
                <a:solidFill>
                  <a:srgbClr val="1B2A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Automated Email &amp; Webhook Renewal Alerts: Integration with </a:t>
            </a:r>
            <a:r>
              <a:rPr sz="1600" b="0" i="0" dirty="0" err="1">
                <a:solidFill>
                  <a:srgbClr val="1B2A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Nodemailer</a:t>
            </a:r>
            <a:r>
              <a:rPr sz="1600" b="0" i="0" dirty="0">
                <a:solidFill>
                  <a:srgbClr val="1B2A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/ SendGrid and node-</a:t>
            </a:r>
            <a:r>
              <a:rPr sz="1600" b="0" i="0" dirty="0" err="1">
                <a:solidFill>
                  <a:srgbClr val="1B2A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cron</a:t>
            </a:r>
            <a:r>
              <a:rPr sz="1600" b="0" i="0" dirty="0">
                <a:solidFill>
                  <a:srgbClr val="1B2A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scheduler for proactive 3-day and 1-day reminders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500"/>
              </a:spcAft>
            </a:pPr>
            <a:r>
              <a:rPr sz="1600" b="0" i="0" dirty="0">
                <a:solidFill>
                  <a:srgbClr val="1B2A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Multi-Currency Conversion &amp; Live FX Rates: Integration with Open Exchange Rates API for dynamic multi-currency display and global conversion</a:t>
            </a:r>
          </a:p>
          <a:p>
            <a:pPr>
              <a:spcAft>
                <a:spcPts val="500"/>
              </a:spcAft>
            </a:pPr>
            <a:r>
              <a:rPr sz="1600" b="0" i="0" dirty="0">
                <a:solidFill>
                  <a:srgbClr val="1B2A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Bank Statement &amp; CSV Import: Automated transaction parsing engine to detect recurring SaaS subscriptions automatically from statements</a:t>
            </a:r>
          </a:p>
          <a:p>
            <a:pPr>
              <a:spcAft>
                <a:spcPts val="500"/>
              </a:spcAft>
            </a:pPr>
            <a:r>
              <a:rPr sz="1600" b="0" i="0" dirty="0">
                <a:solidFill>
                  <a:srgbClr val="1B2A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Predictive ML Spend Anomaly Detection: Heuristic statistical model to predict unexpected price increases and budget overruns before they occur</a:t>
            </a:r>
          </a:p>
          <a:p>
            <a:pPr>
              <a:spcAft>
                <a:spcPts val="500"/>
              </a:spcAft>
            </a:pPr>
            <a:r>
              <a:rPr sz="1600" b="0" i="0" dirty="0">
                <a:solidFill>
                  <a:srgbClr val="1B2A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Production Cloud Deployment: Deployment of frontend SPA to </a:t>
            </a:r>
            <a:r>
              <a:rPr sz="1600" b="0" i="0" dirty="0" err="1">
                <a:solidFill>
                  <a:srgbClr val="1B2A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Vercel</a:t>
            </a:r>
            <a:r>
              <a:rPr sz="1600" b="0" i="0" dirty="0">
                <a:solidFill>
                  <a:srgbClr val="1B2A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containerized Node.js backend on Render, and MongoDB Atlas cluster</a:t>
            </a:r>
          </a:p>
          <a:p>
            <a:pPr>
              <a:spcAft>
                <a:spcPts val="500"/>
              </a:spcAft>
            </a:pPr>
            <a:r>
              <a:rPr sz="1600" b="0" i="0" dirty="0">
                <a:solidFill>
                  <a:srgbClr val="1B2A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Comprehensive End-to-End Testing &amp; Accessibility: Lighthouse 95+ performance optimization and Jest / Cypress automated test coverage expansion</a:t>
            </a:r>
          </a:p>
        </p:txBody>
      </p:sp>
      <p:sp>
        <p:nvSpPr>
          <p:cNvPr id="8" name="Text 6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6245352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sz="1000" b="0" i="0">
                <a:solidFill>
                  <a:srgbClr val="7A8F8C"/>
                </a:solidFill>
                <a:latin typeface="Calibri"/>
              </a:rPr>
              <a:t>SubSense  |  Review 1 &amp; 2 (MERN Stack Project)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457200" y="457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0972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sz="1200" b="1" i="0">
                <a:solidFill>
                  <a:srgbClr val="00A896"/>
                </a:solidFill>
                <a:latin typeface="Calibri"/>
              </a:rPr>
              <a:t>REFERENCES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097280" y="71323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097280" y="1371600"/>
            <a:ext cx="10607040" cy="0"/>
          </a:xfrm>
          <a:prstGeom prst="line">
            <a:avLst/>
          </a:prstGeom>
          <a:noFill/>
          <a:ln w="12700">
            <a:solidFill>
              <a:srgbClr val="D7E7E5"/>
            </a:solidFill>
            <a:prstDash val="solid"/>
          </a:ln>
        </p:spPr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97280" y="1691640"/>
          <a:ext cx="9966960" cy="2286000"/>
        </p:xfrm>
        <a:graphic>
          <a:graphicData uri="http://schemas.openxmlformats.org/drawingml/2006/table">
            <a:tbl>
              <a:tblPr/>
              <a:tblGrid>
                <a:gridCol w="731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35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150" b="1" i="0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50" b="1" i="0">
                          <a:solidFill>
                            <a:srgbClr val="FFFFFF"/>
                          </a:solidFill>
                          <a:latin typeface="Calibri"/>
                        </a:rPr>
                        <a:t>Reference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B2A2E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1B2A2E"/>
                          </a:solidFill>
                          <a:latin typeface="Calibri"/>
                        </a:rPr>
                        <a:t>MongoDB &amp; Mongoose ODM Documentation — https://www.mongodb.com/docs, https://mongoosejs.com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B2A2E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1B2A2E"/>
                          </a:solidFill>
                          <a:latin typeface="Calibri"/>
                        </a:rPr>
                        <a:t>Express.js &amp; Node.js Application Framework Guides — https://expressjs.com, https://nodejs.org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B2A2E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1B2A2E"/>
                          </a:solidFill>
                          <a:latin typeface="Calibri"/>
                        </a:rPr>
                        <a:t>React 18 &amp; Vite Official Documentation — https://react.dev, https://vite.dev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1B2A2E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 i="0">
                          <a:solidFill>
                            <a:srgbClr val="1B2A2E"/>
                          </a:solidFill>
                          <a:latin typeface="Calibri"/>
                        </a:rPr>
                        <a:t>RFC 7519: JSON Web Token (JWT) Standard &amp; Recharts Framework — https://recharts.org</a:t>
                      </a:r>
                    </a:p>
                  </a:txBody>
                  <a:tcPr>
                    <a:lnL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A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Text 5"/>
          <p:cNvSpPr txBox="1"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8F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6245352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sz="1000" b="0" i="0">
                <a:solidFill>
                  <a:srgbClr val="7A8F8C"/>
                </a:solidFill>
                <a:latin typeface="Calibri"/>
              </a:rPr>
              <a:t>SubSense  |  Review 1 &amp; 2 (MERN Stack Project)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2441</Words>
  <Application>Microsoft Office PowerPoint</Application>
  <PresentationFormat>Widescreen</PresentationFormat>
  <Paragraphs>336</Paragraphs>
  <Slides>18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Calibri</vt:lpstr>
      <vt:lpstr>Cambria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Mohan S</cp:lastModifiedBy>
  <cp:revision>3</cp:revision>
  <dcterms:created xsi:type="dcterms:W3CDTF">2026-09-22T17:17:28Z</dcterms:created>
  <dcterms:modified xsi:type="dcterms:W3CDTF">2026-10-14T04:33:22Z</dcterms:modified>
</cp:coreProperties>
</file>